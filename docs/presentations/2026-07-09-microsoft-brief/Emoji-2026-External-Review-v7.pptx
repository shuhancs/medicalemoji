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4110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80000">
            <a:off x="7909560" y="-1143000"/>
            <a:ext cx="5394960" cy="5394960"/>
          </a:xfrm>
          <a:prstGeom prst="arc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360000">
            <a:off x="8732520" y="3108960"/>
            <a:ext cx="3977640" cy="3977640"/>
          </a:xfrm>
          <a:prstGeom prst="arc">
            <a:avLst/>
          </a:prstGeom>
          <a:solidFill>
            <a:srgbClr val="0F8A7B">
              <a:alpha val="42000"/>
            </a:srgbClr>
          </a:solidFill>
          <a:ln w="12700">
            <a:solidFill>
              <a:srgbClr val="0F8A7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6949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5" dirty="0">
                <a:solidFill>
                  <a:srgbClr val="8FC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MATERIALS FOR MICROSOFT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298448"/>
            <a:ext cx="7498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Medical Emoji proposals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304288"/>
            <a:ext cx="6995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D7E4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2026 filing plan, two Unicode process questions, and the history behind them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77240" y="3657600"/>
            <a:ext cx="5486400" cy="1188720"/>
          </a:xfrm>
          <a:prstGeom prst="roundRect">
            <a:avLst>
              <a:gd name="adj" fmla="val 4615"/>
            </a:avLst>
          </a:prstGeom>
          <a:solidFill>
            <a:srgbClr val="132653"/>
          </a:solidFill>
          <a:ln w="12700">
            <a:solidFill>
              <a:srgbClr val="2B4C8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8992" y="3867912"/>
            <a:ext cx="749808" cy="7498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8A5D6"/>
            </a:solidFill>
            <a:prstDash val="solid"/>
          </a:ln>
        </p:spPr>
      </p:sp>
      <p:pic>
        <p:nvPicPr>
          <p:cNvPr id="9" name="Image 0" descr="C:\Users\Shuha\shuputerdesktop\medicalemoji\.worktrees\eligible-2026-slate\submissions\v1.3.0\ct-scan\images\ct-scan_color_72x72_SUBM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3995928"/>
            <a:ext cx="493776" cy="49377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039112" y="3867912"/>
            <a:ext cx="749808" cy="7498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8A5D6"/>
            </a:solidFill>
            <a:prstDash val="solid"/>
          </a:ln>
        </p:spPr>
      </p:sp>
      <p:pic>
        <p:nvPicPr>
          <p:cNvPr id="11" name="Image 1" descr="C:\Users\Shuha\shuputerdesktop\medicalemoji\.worktrees\eligible-2026-slate\submissions\v1.3.0\blood-bag\images\blood-bag_color_72x72_SUBM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128" y="3995928"/>
            <a:ext cx="493776" cy="49377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99232" y="3867912"/>
            <a:ext cx="749808" cy="7498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8A5D6"/>
            </a:solidFill>
            <a:prstDash val="solid"/>
          </a:ln>
        </p:spPr>
      </p:sp>
      <p:pic>
        <p:nvPicPr>
          <p:cNvPr id="13" name="Image 2" descr="C:\Users\Shuha\shuputerdesktop\medicalemoji\.worktrees\eligible-2026-slate\submissions\v1.3.0\pill-box\images\pill-box_color_72x72_SUBM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248" y="3995928"/>
            <a:ext cx="493776" cy="4937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41648" y="386791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CT Scan and Blood Bag planned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Pill Box retained as the first alternate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77240" y="6153912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7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independently by Shuhan He  |  July 13,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35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2026 INTAKE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Current filing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3474720" cy="3200400"/>
          </a:xfrm>
          <a:prstGeom prst="roundRect">
            <a:avLst>
              <a:gd name="adj" fmla="val 1714"/>
            </a:avLst>
          </a:prstGeom>
          <a:solidFill>
            <a:srgbClr val="EAF1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645920"/>
            <a:ext cx="1024128" cy="10241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pic>
        <p:nvPicPr>
          <p:cNvPr id="6" name="Image 0" descr="CT Sc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828800"/>
            <a:ext cx="65836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164592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PLANNED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103120" y="19385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CT Scan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05256" y="2907792"/>
            <a:ext cx="28529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Strongest developed packet. Refresh 2020 evidence, confirm image ownership, and test the 18-pixel design against X-Ray and MRI.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4361688" y="1371600"/>
            <a:ext cx="3474720" cy="3200400"/>
          </a:xfrm>
          <a:prstGeom prst="roundRect">
            <a:avLst>
              <a:gd name="adj" fmla="val 1714"/>
            </a:avLst>
          </a:prstGeom>
          <a:solidFill>
            <a:srgbClr val="E8F7F4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1645920"/>
            <a:ext cx="1024128" cy="10241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F8A7B"/>
            </a:solidFill>
            <a:prstDash val="solid"/>
          </a:ln>
        </p:spPr>
      </p:sp>
      <p:pic>
        <p:nvPicPr>
          <p:cNvPr id="12" name="Image 1" descr="Blood B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828800"/>
            <a:ext cx="658368" cy="6583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70448" y="164592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0F8A7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PLANNED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870448" y="19385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Blood Bag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672584" y="2907792"/>
            <a:ext cx="28529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evidence categories and a clear donation and transfusion use case. Refresh the evidence and test it beside IV Bag in black and white.</a:t>
            </a:r>
            <a:endParaRPr lang="en-US" sz="1320" dirty="0"/>
          </a:p>
        </p:txBody>
      </p:sp>
      <p:sp>
        <p:nvSpPr>
          <p:cNvPr id="16" name="Shape 12"/>
          <p:cNvSpPr/>
          <p:nvPr/>
        </p:nvSpPr>
        <p:spPr>
          <a:xfrm>
            <a:off x="8129016" y="1371600"/>
            <a:ext cx="3474720" cy="3200400"/>
          </a:xfrm>
          <a:prstGeom prst="roundRect">
            <a:avLst>
              <a:gd name="adj" fmla="val 1714"/>
            </a:avLst>
          </a:prstGeom>
          <a:solidFill>
            <a:srgbClr val="FFF4DB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85048" y="1645920"/>
            <a:ext cx="1024128" cy="10241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8412"/>
            </a:solidFill>
            <a:prstDash val="solid"/>
          </a:ln>
        </p:spPr>
      </p:sp>
      <p:pic>
        <p:nvPicPr>
          <p:cNvPr id="18" name="Image 2" descr="Pill Bo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928" y="1828800"/>
            <a:ext cx="658368" cy="6583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37776" y="164592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C984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FIRST ALTERNATE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9637776" y="19385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Pill Box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439912" y="2907792"/>
            <a:ext cx="28529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clearest weekly medication option in the portfolio. Its usage signal is weak, so reviewers may still favor the existing Pill emoji.</a:t>
            </a:r>
            <a:endParaRPr lang="en-US" sz="1320" dirty="0"/>
          </a:p>
        </p:txBody>
      </p:sp>
      <p:sp>
        <p:nvSpPr>
          <p:cNvPr id="22" name="Shape 17"/>
          <p:cNvSpPr/>
          <p:nvPr/>
        </p:nvSpPr>
        <p:spPr>
          <a:xfrm>
            <a:off x="594360" y="4828032"/>
            <a:ext cx="11009376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868680" y="50749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questions for Microsoft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3337560" y="4956048"/>
            <a:ext cx="3703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submission, would Microsoft's Unicode representatives ask ESR to consider adding the proposals to an upcoming agenda through its normal review process?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7333488" y="4956048"/>
            <a:ext cx="39136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Would Microsoft's standards team review the paper and, if it merits UTC discussion, help revise it for submission?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94360" y="6419088"/>
            <a:ext cx="10716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Filing window: https://www.unicode.org/emoji/proposals.html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11384280" y="64190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35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CURRENT STATUS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Full proposal portfolio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12984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CURRENT PLAN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281635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CT Sc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728216"/>
            <a:ext cx="530352" cy="530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0744" y="1728216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CT Scan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80744" y="2057400"/>
            <a:ext cx="18836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 after revision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4360" y="2578608"/>
            <a:ext cx="281635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Blood B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706624"/>
            <a:ext cx="530352" cy="5303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80744" y="270662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Blood Bag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380744" y="3035808"/>
            <a:ext cx="18836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0F8A7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 after revision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94360" y="3557016"/>
            <a:ext cx="281635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ill Bo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685032"/>
            <a:ext cx="530352" cy="5303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80744" y="368503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Pill Box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380744" y="4014216"/>
            <a:ext cx="18836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C98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alternate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3675888" y="1298448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C984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MORE EVIDENCE OR A STRONGER CASE NEEDED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657600" y="1600200"/>
            <a:ext cx="1664208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3" descr="Ultrasoun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1783080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261104" y="1728216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Ultrasound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4261104" y="2057400"/>
            <a:ext cx="978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98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exhibits missing</a:t>
            </a:r>
            <a:endParaRPr lang="en-US" sz="870" dirty="0"/>
          </a:p>
        </p:txBody>
      </p:sp>
      <p:sp>
        <p:nvSpPr>
          <p:cNvPr id="22" name="Shape 16"/>
          <p:cNvSpPr/>
          <p:nvPr/>
        </p:nvSpPr>
        <p:spPr>
          <a:xfrm>
            <a:off x="5504688" y="1600200"/>
            <a:ext cx="1664208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3" name="Image 4" descr="Weight Scal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6128" y="1783080"/>
            <a:ext cx="420624" cy="42062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108192" y="1728216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Weight Scale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6108192" y="2057400"/>
            <a:ext cx="978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98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Trends missing</a:t>
            </a:r>
            <a:endParaRPr lang="en-US" sz="870" dirty="0"/>
          </a:p>
        </p:txBody>
      </p:sp>
      <p:sp>
        <p:nvSpPr>
          <p:cNvPr id="26" name="Shape 19"/>
          <p:cNvSpPr/>
          <p:nvPr/>
        </p:nvSpPr>
        <p:spPr>
          <a:xfrm>
            <a:off x="7351776" y="1600200"/>
            <a:ext cx="1664208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7" name="Image 5" descr="White Blood Cell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3216" y="1783080"/>
            <a:ext cx="420624" cy="42062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955280" y="1728216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White Blood Cell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7955280" y="2057400"/>
            <a:ext cx="978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98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Trends missing</a:t>
            </a:r>
            <a:endParaRPr lang="en-US" sz="870" dirty="0"/>
          </a:p>
        </p:txBody>
      </p:sp>
      <p:sp>
        <p:nvSpPr>
          <p:cNvPr id="30" name="Shape 22"/>
          <p:cNvSpPr/>
          <p:nvPr/>
        </p:nvSpPr>
        <p:spPr>
          <a:xfrm>
            <a:off x="3657600" y="2578608"/>
            <a:ext cx="1664208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1" name="Image 6" descr="Inhale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9040" y="2761488"/>
            <a:ext cx="420624" cy="42062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261104" y="2706624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Inhaler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4261104" y="3035808"/>
            <a:ext cx="978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98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 + Trends missing</a:t>
            </a:r>
            <a:endParaRPr lang="en-US" sz="870" dirty="0"/>
          </a:p>
        </p:txBody>
      </p:sp>
      <p:sp>
        <p:nvSpPr>
          <p:cNvPr id="34" name="Shape 25"/>
          <p:cNvSpPr/>
          <p:nvPr/>
        </p:nvSpPr>
        <p:spPr>
          <a:xfrm>
            <a:off x="5504688" y="2578608"/>
            <a:ext cx="1664208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5" name="Image 7" descr="IV Ba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96128" y="2761488"/>
            <a:ext cx="420624" cy="42062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108192" y="2706624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IV Bag</a:t>
            </a:r>
            <a:endParaRPr lang="en-US" sz="1050" dirty="0"/>
          </a:p>
        </p:txBody>
      </p:sp>
      <p:sp>
        <p:nvSpPr>
          <p:cNvPr id="37" name="Text 27"/>
          <p:cNvSpPr/>
          <p:nvPr/>
        </p:nvSpPr>
        <p:spPr>
          <a:xfrm>
            <a:off x="6108192" y="3035808"/>
            <a:ext cx="978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98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Trends missing</a:t>
            </a:r>
            <a:endParaRPr lang="en-US" sz="870" dirty="0"/>
          </a:p>
        </p:txBody>
      </p:sp>
      <p:sp>
        <p:nvSpPr>
          <p:cNvPr id="38" name="Shape 28"/>
          <p:cNvSpPr/>
          <p:nvPr/>
        </p:nvSpPr>
        <p:spPr>
          <a:xfrm>
            <a:off x="7351776" y="2578608"/>
            <a:ext cx="1664208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9" name="Image 8" descr="Leg Cas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43216" y="2761488"/>
            <a:ext cx="420624" cy="420624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955280" y="2706624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 Cast</a:t>
            </a:r>
            <a:endParaRPr lang="en-US" sz="1050" dirty="0"/>
          </a:p>
        </p:txBody>
      </p:sp>
      <p:sp>
        <p:nvSpPr>
          <p:cNvPr id="41" name="Text 30"/>
          <p:cNvSpPr/>
          <p:nvPr/>
        </p:nvSpPr>
        <p:spPr>
          <a:xfrm>
            <a:off x="7955280" y="3035808"/>
            <a:ext cx="978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98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comparators + design</a:t>
            </a:r>
            <a:endParaRPr lang="en-US" sz="870" dirty="0"/>
          </a:p>
        </p:txBody>
      </p:sp>
      <p:sp>
        <p:nvSpPr>
          <p:cNvPr id="42" name="Shape 31"/>
          <p:cNvSpPr/>
          <p:nvPr/>
        </p:nvSpPr>
        <p:spPr>
          <a:xfrm>
            <a:off x="3657600" y="3557016"/>
            <a:ext cx="1664208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3" name="Image 9" descr="Pill Pack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49040" y="3739896"/>
            <a:ext cx="420624" cy="420624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4261104" y="3685032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Pill Pack</a:t>
            </a:r>
            <a:endParaRPr lang="en-US" sz="1050" dirty="0"/>
          </a:p>
        </p:txBody>
      </p:sp>
      <p:sp>
        <p:nvSpPr>
          <p:cNvPr id="45" name="Text 33"/>
          <p:cNvSpPr/>
          <p:nvPr/>
        </p:nvSpPr>
        <p:spPr>
          <a:xfrm>
            <a:off x="4261104" y="4014216"/>
            <a:ext cx="978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98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Trends + overlap</a:t>
            </a:r>
            <a:endParaRPr lang="en-US" sz="870" dirty="0"/>
          </a:p>
        </p:txBody>
      </p:sp>
      <p:sp>
        <p:nvSpPr>
          <p:cNvPr id="46" name="Shape 34"/>
          <p:cNvSpPr/>
          <p:nvPr/>
        </p:nvSpPr>
        <p:spPr>
          <a:xfrm>
            <a:off x="5504688" y="3557016"/>
            <a:ext cx="1664208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7" name="Image 10" descr="Maz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96128" y="3739896"/>
            <a:ext cx="420624" cy="420624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108192" y="3685032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Maze</a:t>
            </a:r>
            <a:endParaRPr lang="en-US" sz="1050" dirty="0"/>
          </a:p>
        </p:txBody>
      </p:sp>
      <p:sp>
        <p:nvSpPr>
          <p:cNvPr id="49" name="Text 36"/>
          <p:cNvSpPr/>
          <p:nvPr/>
        </p:nvSpPr>
        <p:spPr>
          <a:xfrm>
            <a:off x="6108192" y="4014216"/>
            <a:ext cx="978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98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exhibits; 2 declines</a:t>
            </a:r>
            <a:endParaRPr lang="en-US" sz="870" dirty="0"/>
          </a:p>
        </p:txBody>
      </p:sp>
      <p:sp>
        <p:nvSpPr>
          <p:cNvPr id="50" name="Shape 37"/>
          <p:cNvSpPr/>
          <p:nvPr/>
        </p:nvSpPr>
        <p:spPr>
          <a:xfrm>
            <a:off x="7351776" y="3557016"/>
            <a:ext cx="1664208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1" name="Image 11" descr="First Aid Kit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43216" y="3739896"/>
            <a:ext cx="420624" cy="420624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7955280" y="3685032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First Aid Kit</a:t>
            </a:r>
            <a:endParaRPr lang="en-US" sz="1050" dirty="0"/>
          </a:p>
        </p:txBody>
      </p:sp>
      <p:sp>
        <p:nvSpPr>
          <p:cNvPr id="53" name="Text 39"/>
          <p:cNvSpPr/>
          <p:nvPr/>
        </p:nvSpPr>
        <p:spPr>
          <a:xfrm>
            <a:off x="7955280" y="4014216"/>
            <a:ext cx="9784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C98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exhibits missing</a:t>
            </a:r>
            <a:endParaRPr lang="en-US" sz="870" dirty="0"/>
          </a:p>
        </p:txBody>
      </p:sp>
      <p:sp>
        <p:nvSpPr>
          <p:cNvPr id="54" name="Text 40"/>
          <p:cNvSpPr/>
          <p:nvPr/>
        </p:nvSpPr>
        <p:spPr>
          <a:xfrm>
            <a:off x="9308592" y="12984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kern="0" spc="80" dirty="0">
                <a:solidFill>
                  <a:srgbClr val="B9504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LATER-CYCLE CANDIDATES</a:t>
            </a:r>
            <a:endParaRPr lang="en-US" sz="950" dirty="0"/>
          </a:p>
        </p:txBody>
      </p:sp>
      <p:sp>
        <p:nvSpPr>
          <p:cNvPr id="55" name="Shape 41"/>
          <p:cNvSpPr/>
          <p:nvPr/>
        </p:nvSpPr>
        <p:spPr>
          <a:xfrm>
            <a:off x="9189720" y="1600200"/>
            <a:ext cx="2414016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56" name="Image 12" descr="Kidney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36024" y="1728216"/>
            <a:ext cx="530352" cy="530352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9976104" y="17282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Kidney</a:t>
            </a:r>
            <a:endParaRPr lang="en-US" sz="1200" dirty="0"/>
          </a:p>
        </p:txBody>
      </p:sp>
      <p:sp>
        <p:nvSpPr>
          <p:cNvPr id="58" name="Text 43"/>
          <p:cNvSpPr/>
          <p:nvPr/>
        </p:nvSpPr>
        <p:spPr>
          <a:xfrm>
            <a:off x="9976104" y="2057400"/>
            <a:ext cx="1481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950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 decline</a:t>
            </a:r>
            <a:endParaRPr lang="en-US" sz="950" dirty="0"/>
          </a:p>
        </p:txBody>
      </p:sp>
      <p:sp>
        <p:nvSpPr>
          <p:cNvPr id="59" name="Shape 44"/>
          <p:cNvSpPr/>
          <p:nvPr/>
        </p:nvSpPr>
        <p:spPr>
          <a:xfrm>
            <a:off x="9189720" y="2578608"/>
            <a:ext cx="2414016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0" name="Image 13" descr="Stomach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36024" y="2706624"/>
            <a:ext cx="530352" cy="530352"/>
          </a:xfrm>
          <a:prstGeom prst="rect">
            <a:avLst/>
          </a:prstGeom>
        </p:spPr>
      </p:pic>
      <p:sp>
        <p:nvSpPr>
          <p:cNvPr id="61" name="Text 45"/>
          <p:cNvSpPr/>
          <p:nvPr/>
        </p:nvSpPr>
        <p:spPr>
          <a:xfrm>
            <a:off x="9976104" y="270662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Stomach</a:t>
            </a:r>
            <a:endParaRPr lang="en-US" sz="1200" dirty="0"/>
          </a:p>
        </p:txBody>
      </p:sp>
      <p:sp>
        <p:nvSpPr>
          <p:cNvPr id="62" name="Text 46"/>
          <p:cNvSpPr/>
          <p:nvPr/>
        </p:nvSpPr>
        <p:spPr>
          <a:xfrm>
            <a:off x="9976104" y="3035808"/>
            <a:ext cx="1481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950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 decline</a:t>
            </a:r>
            <a:endParaRPr lang="en-US" sz="950" dirty="0"/>
          </a:p>
        </p:txBody>
      </p:sp>
      <p:sp>
        <p:nvSpPr>
          <p:cNvPr id="63" name="Shape 47"/>
          <p:cNvSpPr/>
          <p:nvPr/>
        </p:nvSpPr>
        <p:spPr>
          <a:xfrm>
            <a:off x="9189720" y="3557016"/>
            <a:ext cx="2414016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4" name="Image 14" descr="Liver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36024" y="3685032"/>
            <a:ext cx="530352" cy="530352"/>
          </a:xfrm>
          <a:prstGeom prst="rect">
            <a:avLst/>
          </a:prstGeom>
        </p:spPr>
      </p:pic>
      <p:sp>
        <p:nvSpPr>
          <p:cNvPr id="65" name="Text 48"/>
          <p:cNvSpPr/>
          <p:nvPr/>
        </p:nvSpPr>
        <p:spPr>
          <a:xfrm>
            <a:off x="9976104" y="368503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Liver</a:t>
            </a:r>
            <a:endParaRPr lang="en-US" sz="1200" dirty="0"/>
          </a:p>
        </p:txBody>
      </p:sp>
      <p:sp>
        <p:nvSpPr>
          <p:cNvPr id="66" name="Text 49"/>
          <p:cNvSpPr/>
          <p:nvPr/>
        </p:nvSpPr>
        <p:spPr>
          <a:xfrm>
            <a:off x="9976104" y="4014216"/>
            <a:ext cx="14813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B950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2022 decline</a:t>
            </a:r>
            <a:endParaRPr lang="en-US" sz="950" dirty="0"/>
          </a:p>
        </p:txBody>
      </p:sp>
      <p:sp>
        <p:nvSpPr>
          <p:cNvPr id="67" name="Shape 50"/>
          <p:cNvSpPr/>
          <p:nvPr/>
        </p:nvSpPr>
        <p:spPr>
          <a:xfrm>
            <a:off x="594360" y="4828032"/>
            <a:ext cx="11009376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8" name="Text 51"/>
          <p:cNvSpPr/>
          <p:nvPr/>
        </p:nvSpPr>
        <p:spPr>
          <a:xfrm>
            <a:off x="868680" y="5138928"/>
            <a:ext cx="10442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portfolio includes 15 concepts at different stages. The notes identify the work remaining before each could be considered for filing.</a:t>
            </a:r>
            <a:endParaRPr lang="en-US" sz="1300" dirty="0"/>
          </a:p>
        </p:txBody>
      </p:sp>
      <p:sp>
        <p:nvSpPr>
          <p:cNvPr id="69" name="Text 52"/>
          <p:cNvSpPr/>
          <p:nvPr/>
        </p:nvSpPr>
        <p:spPr>
          <a:xfrm>
            <a:off x="594360" y="6419088"/>
            <a:ext cx="10716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Proposal releases: https://github.com/ShuhanCS/medicalemoji/tree/codex/eligible-2026-slate/submissions</a:t>
            </a:r>
            <a:endParaRPr lang="en-US" sz="850" dirty="0"/>
          </a:p>
        </p:txBody>
      </p:sp>
      <p:sp>
        <p:nvSpPr>
          <p:cNvPr id="70" name="Text 53"/>
          <p:cNvSpPr/>
          <p:nvPr/>
        </p:nvSpPr>
        <p:spPr>
          <a:xfrm>
            <a:off x="11384280" y="64190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35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EVIDENCE AND DISTINCTIVENESS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CT Scan and Blood Bag lead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285232" cy="3291840"/>
          </a:xfrm>
          <a:prstGeom prst="roundRect">
            <a:avLst>
              <a:gd name="adj" fmla="val 1667"/>
            </a:avLst>
          </a:prstGeom>
          <a:solidFill>
            <a:srgbClr val="EAF1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691640"/>
            <a:ext cx="1024128" cy="10241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pic>
        <p:nvPicPr>
          <p:cNvPr id="6" name="Image 0" descr="CT Sc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874520"/>
            <a:ext cx="65836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1691640"/>
            <a:ext cx="3502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BEST DEVELOPED CASE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103120" y="1984248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CT Scan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05256" y="2953512"/>
            <a:ext cx="46634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machine and procedure support appointment, preparation, results, and care-sequence uses that X-Ray does not fully express.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6309360" y="1417320"/>
            <a:ext cx="5285232" cy="3291840"/>
          </a:xfrm>
          <a:prstGeom prst="roundRect">
            <a:avLst>
              <a:gd name="adj" fmla="val 1667"/>
            </a:avLst>
          </a:prstGeom>
          <a:solidFill>
            <a:srgbClr val="E8F7F4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65392" y="1691640"/>
            <a:ext cx="1024128" cy="10241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F8A7B"/>
            </a:solidFill>
            <a:prstDash val="solid"/>
          </a:ln>
        </p:spPr>
      </p:sp>
      <p:pic>
        <p:nvPicPr>
          <p:cNvPr id="12" name="Image 1" descr="Blood B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1874520"/>
            <a:ext cx="658368" cy="6583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18120" y="1691640"/>
            <a:ext cx="3502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0F8A7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STRONGEST TRANSFUSION CASE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7818120" y="1984248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Blood Bag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620256" y="2953512"/>
            <a:ext cx="46634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Donation, transfusion, blood supply, and patient-care uses are more specific than Drop of Blood.</a:t>
            </a:r>
            <a:endParaRPr lang="en-US" sz="1320" dirty="0"/>
          </a:p>
        </p:txBody>
      </p:sp>
      <p:sp>
        <p:nvSpPr>
          <p:cNvPr id="16" name="Shape 12"/>
          <p:cNvSpPr/>
          <p:nvPr/>
        </p:nvSpPr>
        <p:spPr>
          <a:xfrm>
            <a:off x="594360" y="4956048"/>
            <a:ext cx="11009376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52486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filing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423160" y="51389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Recapture the 2020 exhibits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983480" y="51389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the ownership chain clearly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7543800" y="513892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the closest visual substitutes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94360" y="6419088"/>
            <a:ext cx="10716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Requirements: https://www.unicode.org/emoji/proposals.html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11384280" y="64190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35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PORTFOLIO CHOICES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Related concepts need direct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1009376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642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Medication</a:t>
            </a:r>
            <a:endParaRPr lang="en-US" sz="1600" dirty="0"/>
          </a:p>
        </p:txBody>
      </p:sp>
      <p:pic>
        <p:nvPicPr>
          <p:cNvPr id="6" name="Image 0" descr="Pill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1691640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08960" y="16642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866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Pill Box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108960" y="199339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evidence categories are present. The weekly organization and caregiver use are clearer, although Pill remains a strong substitute.</a:t>
            </a:r>
            <a:endParaRPr lang="en-US" sz="1150" dirty="0"/>
          </a:p>
        </p:txBody>
      </p:sp>
      <p:pic>
        <p:nvPicPr>
          <p:cNvPr id="9" name="Image 1" descr="Pill Pa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691640"/>
            <a:ext cx="713232" cy="7132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23760" y="166420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Pill Pack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223760" y="1993392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Trends is missing, Image Trends uses the wrong comparator, and the 18-pixel image can resemble a keypad. Blister Pack may be the safer future name.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931920" y="2926080"/>
            <a:ext cx="4297680" cy="292608"/>
          </a:xfrm>
          <a:prstGeom prst="roundRect">
            <a:avLst>
              <a:gd name="adj" fmla="val 15625"/>
            </a:avLst>
          </a:prstGeom>
          <a:solidFill>
            <a:srgbClr val="E8F7F4"/>
          </a:solidFill>
          <a:ln w="12700">
            <a:solidFill>
              <a:srgbClr val="E8F7F4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931920" y="294894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6866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PILL BOX IS THE CURRENT ALTERNATE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94360" y="3675888"/>
            <a:ext cx="11009376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68680" y="39227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Infusion</a:t>
            </a:r>
            <a:endParaRPr lang="en-US" sz="1600" dirty="0"/>
          </a:p>
        </p:txBody>
      </p:sp>
      <p:pic>
        <p:nvPicPr>
          <p:cNvPr id="16" name="Image 2" descr="Blood Ba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0280" y="3950208"/>
            <a:ext cx="713232" cy="7132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108960" y="392277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866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Blood Bag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108960" y="425196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evidence categories are present, and donation and transfusion supply a specific public meaning.</a:t>
            </a:r>
            <a:endParaRPr lang="en-US" sz="1150" dirty="0"/>
          </a:p>
        </p:txBody>
      </p:sp>
      <p:pic>
        <p:nvPicPr>
          <p:cNvPr id="19" name="Image 3" descr="IV Ba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950208"/>
            <a:ext cx="713232" cy="7132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23760" y="392277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IV Bag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7223760" y="425196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Trends exhibits are missing, and its black-and-white silhouette is difficult to distinguish from Blood Bag.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3931920" y="5184648"/>
            <a:ext cx="4297680" cy="292608"/>
          </a:xfrm>
          <a:prstGeom prst="roundRect">
            <a:avLst>
              <a:gd name="adj" fmla="val 15625"/>
            </a:avLst>
          </a:prstGeom>
          <a:solidFill>
            <a:srgbClr val="E8F7F4"/>
          </a:solidFill>
          <a:ln w="12700">
            <a:solidFill>
              <a:srgbClr val="E8F7F4">
                <a:alpha val="0"/>
              </a:srgbClr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931920" y="520750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6866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BLOOD BAG IS THE CURRENT FILING CHOICE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594360" y="6419088"/>
            <a:ext cx="10716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slate: https://github.com/ShuhanCS/medicalemoji/tree/codex/eligible-2026-slate/submissions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11384280" y="64190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35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ALTERNATIVES FOR REVIEW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Additional candidates could move forward after evidence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474720" cy="3474720"/>
          </a:xfrm>
          <a:prstGeom prst="roundRect">
            <a:avLst>
              <a:gd name="adj" fmla="val 1579"/>
            </a:avLst>
          </a:prstGeom>
          <a:solidFill>
            <a:srgbClr val="E8F7F4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691640"/>
            <a:ext cx="1024128" cy="10241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6866F"/>
            </a:solidFill>
            <a:prstDash val="solid"/>
          </a:ln>
        </p:spPr>
      </p:sp>
      <p:pic>
        <p:nvPicPr>
          <p:cNvPr id="6" name="Image 0" descr="Ultrasou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874520"/>
            <a:ext cx="658368" cy="658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16916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16866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PROMISING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103120" y="198424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Ultrasound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05256" y="2953512"/>
            <a:ext cx="285292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strongest recent Books signal in the portfolio, with broad clinical and personal uses. Four Google exhibits and an 18-pixel probe test remain.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4361688" y="1417320"/>
            <a:ext cx="3474720" cy="3474720"/>
          </a:xfrm>
          <a:prstGeom prst="roundRect">
            <a:avLst>
              <a:gd name="adj" fmla="val 1579"/>
            </a:avLst>
          </a:prstGeom>
          <a:solidFill>
            <a:srgbClr val="EAF1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1691640"/>
            <a:ext cx="1024128" cy="10241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pic>
        <p:nvPicPr>
          <p:cNvPr id="12" name="Image 1" descr="Weight Sca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874520"/>
            <a:ext cx="658368" cy="6583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70448" y="16916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PROMISING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870448" y="198424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Weight Scale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672584" y="2953512"/>
            <a:ext cx="285292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 medical and everyday uses, with a strong small-size image. Web and Image Trends remain outstanding.</a:t>
            </a:r>
            <a:endParaRPr lang="en-US" sz="1320" dirty="0"/>
          </a:p>
        </p:txBody>
      </p:sp>
      <p:sp>
        <p:nvSpPr>
          <p:cNvPr id="16" name="Shape 12"/>
          <p:cNvSpPr/>
          <p:nvPr/>
        </p:nvSpPr>
        <p:spPr>
          <a:xfrm>
            <a:off x="8129016" y="1417320"/>
            <a:ext cx="3474720" cy="3474720"/>
          </a:xfrm>
          <a:prstGeom prst="roundRect">
            <a:avLst>
              <a:gd name="adj" fmla="val 1579"/>
            </a:avLst>
          </a:prstGeom>
          <a:solidFill>
            <a:srgbClr val="FFF4DB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85048" y="1691640"/>
            <a:ext cx="1024128" cy="102412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98412"/>
            </a:solidFill>
            <a:prstDash val="solid"/>
          </a:ln>
        </p:spPr>
      </p:sp>
      <p:pic>
        <p:nvPicPr>
          <p:cNvPr id="18" name="Image 2" descr="Inhal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928" y="1874520"/>
            <a:ext cx="658368" cy="6583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37776" y="16916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C984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WORTH ANOTHER LOOK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9637776" y="198424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Inhaler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439912" y="2953512"/>
            <a:ext cx="285292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distinct medication route with familiar carry, refill, and rescue uses. Video, Trends, and global recognition remain open questions.</a:t>
            </a:r>
            <a:endParaRPr lang="en-US" sz="1320" dirty="0"/>
          </a:p>
        </p:txBody>
      </p:sp>
      <p:sp>
        <p:nvSpPr>
          <p:cNvPr id="22" name="Shape 17"/>
          <p:cNvSpPr/>
          <p:nvPr/>
        </p:nvSpPr>
        <p:spPr>
          <a:xfrm>
            <a:off x="594360" y="5138928"/>
            <a:ext cx="11009376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1097280" y="537667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Microsoft's review can help determine whether one of these should replace a planned filing. Each would first require the evidence and design work shown above.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594360" y="6419088"/>
            <a:ext cx="10716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Requirements: https://www.unicode.org/emoji/proposals.html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11384280" y="64190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35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PROCESS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Unicode routes serve different purposes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1009376" cy="1965960"/>
          </a:xfrm>
          <a:prstGeom prst="roundRect">
            <a:avLst>
              <a:gd name="adj" fmla="val 2791"/>
            </a:avLst>
          </a:prstGeom>
          <a:solidFill>
            <a:srgbClr val="EAF1FF"/>
          </a:solidFill>
          <a:ln w="10160">
            <a:solidFill>
              <a:srgbClr val="B9CCF4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8249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INDIVIDUAL EMOJI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14600" y="1673352"/>
            <a:ext cx="221284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B9CCF4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79192" y="1901952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CT Scan / Blood Bag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79192" y="224028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Revise before filing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37176" y="1993392"/>
            <a:ext cx="292608" cy="384048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673352"/>
            <a:ext cx="221284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B9CCF4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68112" y="1901952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Emoji Submission Form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68112" y="224028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2026 route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626096" y="1993392"/>
            <a:ext cx="292608" cy="384048"/>
          </a:xfrm>
          <a:prstGeom prst="chevron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673352"/>
            <a:ext cx="221284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B9CCF4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57032" y="1901952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ESR review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57032" y="224028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Unicode controls timing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51760" y="2770632"/>
            <a:ext cx="71323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16352" y="2852928"/>
            <a:ext cx="6803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Would Microsoft ask ESR to consider an upcoming agenda discussion through its normal review process?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594360" y="3703320"/>
            <a:ext cx="11009376" cy="1965960"/>
          </a:xfrm>
          <a:prstGeom prst="roundRect">
            <a:avLst>
              <a:gd name="adj" fmla="val 2791"/>
            </a:avLst>
          </a:prstGeom>
          <a:solidFill>
            <a:srgbClr val="E8F7F4"/>
          </a:solidFill>
          <a:ln w="10160">
            <a:solidFill>
              <a:srgbClr val="B5DED5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396849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90" dirty="0">
                <a:solidFill>
                  <a:srgbClr val="0F8A7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TECHNICAL DISCUSSION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14600" y="3959352"/>
            <a:ext cx="221284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B5DED5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679192" y="4187952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Revised discussion paper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79192" y="452628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determines its position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37176" y="4279392"/>
            <a:ext cx="292608" cy="384048"/>
          </a:xfrm>
          <a:prstGeom prst="chevron">
            <a:avLst/>
          </a:prstGeom>
          <a:solidFill>
            <a:srgbClr val="0F8A7B"/>
          </a:solidFill>
          <a:ln w="12700">
            <a:solidFill>
              <a:srgbClr val="0F8A7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0" y="3959352"/>
            <a:ext cx="221284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B5DED5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68112" y="4187952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Unicode document submission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68112" y="452628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Microsoft chooses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626096" y="4279392"/>
            <a:ext cx="292608" cy="384048"/>
          </a:xfrm>
          <a:prstGeom prst="chevron">
            <a:avLst/>
          </a:prstGeom>
          <a:solidFill>
            <a:srgbClr val="0F8A7B"/>
          </a:solidFill>
          <a:ln w="12700">
            <a:solidFill>
              <a:srgbClr val="0F8A7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92440" y="3959352"/>
            <a:ext cx="2212848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0160">
            <a:solidFill>
              <a:srgbClr val="B5DED5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57032" y="4187952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L2 number if accepted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57032" y="452628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UTC may discuss or refer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651760" y="5056632"/>
            <a:ext cx="713232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16352" y="5138928"/>
            <a:ext cx="6803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0F8A7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Would Microsoft review the paper and, if it merits UTC discussion, help revise it for submission?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594360" y="6419088"/>
            <a:ext cx="10716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Routes: https://www.unicode.org/emoji/proposals.html  |  https://www.unicode.org/pending/docsubmit.html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384280" y="64190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35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RELEVANT HISTORY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621792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Apple, Anatomical Heart, and Lungs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520440" cy="44805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0160">
            <a:solidFill>
              <a:srgbClr val="D8DEE9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645920"/>
            <a:ext cx="960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874520" y="179222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accessibility emoji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450592"/>
            <a:ext cx="2852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Apple L2/18-080  |  March 2018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2907792"/>
            <a:ext cx="2852928" cy="384048"/>
          </a:xfrm>
          <a:prstGeom prst="roundRect">
            <a:avLst>
              <a:gd name="adj" fmla="val 11905"/>
            </a:avLst>
          </a:prstGeom>
          <a:solidFill>
            <a:srgbClr val="EAF1FF"/>
          </a:solidFill>
          <a:ln w="762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3008376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Blind / Low Vision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3438144"/>
            <a:ext cx="2852928" cy="384048"/>
          </a:xfrm>
          <a:prstGeom prst="roundRect">
            <a:avLst>
              <a:gd name="adj" fmla="val 11905"/>
            </a:avLst>
          </a:prstGeom>
          <a:solidFill>
            <a:srgbClr val="E8F7F4"/>
          </a:solidFill>
          <a:ln w="762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538728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Deaf / Hard of Hearing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3968496"/>
            <a:ext cx="2852928" cy="384048"/>
          </a:xfrm>
          <a:prstGeom prst="roundRect">
            <a:avLst>
              <a:gd name="adj" fmla="val 11905"/>
            </a:avLst>
          </a:prstGeom>
          <a:solidFill>
            <a:srgbClr val="EAF1FF"/>
          </a:solidFill>
          <a:ln w="762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4069080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Physical Motor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4498848"/>
            <a:ext cx="2852928" cy="384048"/>
          </a:xfrm>
          <a:prstGeom prst="roundRect">
            <a:avLst>
              <a:gd name="adj" fmla="val 11905"/>
            </a:avLst>
          </a:prstGeom>
          <a:solidFill>
            <a:srgbClr val="E8F7F4"/>
          </a:solidFill>
          <a:ln w="762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4599432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Hidden Disabilities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5212080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Apple presented a finite starting set and addressed Unicode's selection factors. It used the emoji-proposal process available in 2018.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590288" y="1627632"/>
            <a:ext cx="658368" cy="658368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181965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2018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19472" y="2304288"/>
            <a:ext cx="0" cy="658368"/>
          </a:xfrm>
          <a:prstGeom prst="line">
            <a:avLst/>
          </a:prstGeom>
          <a:noFill/>
          <a:ln w="25400">
            <a:solidFill>
              <a:srgbClr val="AAB5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59552" y="1554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Apple accessibility proposal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559552" y="198424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Nine related concepts, organized as a finite set and argued under the selection factors used at that time.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90288" y="3072384"/>
            <a:ext cx="658368" cy="658368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90288" y="326440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2019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19472" y="3749040"/>
            <a:ext cx="0" cy="658368"/>
          </a:xfrm>
          <a:prstGeom prst="line">
            <a:avLst/>
          </a:prstGeom>
          <a:noFill/>
          <a:ln w="25400">
            <a:solidFill>
              <a:srgbClr val="AAB5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9552" y="2999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Anatomical Heart and Lungs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559552" y="3429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Christian Kamkoff, Shuhan He, and Melissa Thermidor submitted separate proposals. Unicode later encoded both characters.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90288" y="4517136"/>
            <a:ext cx="658368" cy="658368"/>
          </a:xfrm>
          <a:prstGeom prst="ellipse">
            <a:avLst/>
          </a:prstGeom>
          <a:solidFill>
            <a:srgbClr val="0F8A7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0288" y="470916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2026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559552" y="44439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Current process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559552" y="487375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Emoji candidates use the official form. A separate discussion paper can raise a coverage and guidance question.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407408" y="5632704"/>
            <a:ext cx="7187184" cy="420624"/>
          </a:xfrm>
          <a:prstGeom prst="roundRect">
            <a:avLst>
              <a:gd name="adj" fmla="val 13043"/>
            </a:avLst>
          </a:prstGeom>
          <a:solidFill>
            <a:srgbClr val="FFF4DB"/>
          </a:solidFill>
          <a:ln w="10160">
            <a:solidFill>
              <a:srgbClr val="E9D39D"/>
            </a:solidFill>
            <a:prstDash val="solid"/>
          </a:ln>
          <a:effectLst>
            <a:outerShdw blurRad="381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63440" y="5742432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7203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 2026, the individual proposals and the discussion paper follow separate submission routes.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94360" y="6419088"/>
            <a:ext cx="10716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https://www.unicode.org/L2/L2018/18080-accessibility-emoji.pdf  |  https://www.unicode.org/L2/L2019/19149-lung-emoji.pdf  |  https://www.unicode.org/L2/L2019/19150-heart-emoji.pdf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384280" y="64190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7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60350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45" dirty="0">
                <a:solidFill>
                  <a:srgbClr val="8FC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QUESTIONS FOR MICROSOFT REVIEWERS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49808" y="107899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Questions for Microsoft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41248" y="1956816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08483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08760" y="1938528"/>
            <a:ext cx="6080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4EB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Are CT Scan and Blood Bag the right filing choices, or should Pill Box replace one?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1248" y="278892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91693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08760" y="2770632"/>
            <a:ext cx="6080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4EB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the images remain clear at 18 pixels and in black and white?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1248" y="3621024"/>
            <a:ext cx="438912" cy="438912"/>
          </a:xfrm>
          <a:prstGeom prst="ellipse">
            <a:avLst/>
          </a:prstGeom>
          <a:solidFill>
            <a:srgbClr val="0F8A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749040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08760" y="3602736"/>
            <a:ext cx="6080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4EB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submission, would Microsoft ask ESR to consider an upcoming agenda discussion through its normal review process?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" y="4453128"/>
            <a:ext cx="438912" cy="438912"/>
          </a:xfrm>
          <a:prstGeom prst="ellipse">
            <a:avLst/>
          </a:prstGeom>
          <a:solidFill>
            <a:srgbClr val="0F8A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581144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08760" y="4434840"/>
            <a:ext cx="6080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E4EB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Would Microsoft review the discussion paper and, if it merits UTC discussion, help revise it for submission?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909560" y="1115568"/>
            <a:ext cx="3429000" cy="4389120"/>
          </a:xfrm>
          <a:prstGeom prst="roundRect">
            <a:avLst>
              <a:gd name="adj" fmla="val 1600"/>
            </a:avLst>
          </a:prstGeom>
          <a:solidFill>
            <a:srgbClr val="132653"/>
          </a:solidFill>
          <a:ln w="12700">
            <a:solidFill>
              <a:srgbClr val="2B4C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4447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15" dirty="0">
                <a:solidFill>
                  <a:srgbClr val="8FC5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ATTACHED MATERIALS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57032" y="1920240"/>
            <a:ext cx="146304" cy="146304"/>
          </a:xfrm>
          <a:prstGeom prst="ellipse">
            <a:avLst/>
          </a:prstGeom>
          <a:solidFill>
            <a:srgbClr val="0F8A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9640" y="186537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review deck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57032" y="2359152"/>
            <a:ext cx="146304" cy="146304"/>
          </a:xfrm>
          <a:prstGeom prst="ellipse">
            <a:avLst/>
          </a:prstGeom>
          <a:solidFill>
            <a:srgbClr val="0F8A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9640" y="230428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Proposal review brief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57032" y="2798064"/>
            <a:ext cx="146304" cy="146304"/>
          </a:xfrm>
          <a:prstGeom prst="ellipse">
            <a:avLst/>
          </a:prstGeom>
          <a:solidFill>
            <a:srgbClr val="0F8A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27432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and rights questions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57032" y="3236976"/>
            <a:ext cx="146304" cy="146304"/>
          </a:xfrm>
          <a:prstGeom prst="ellipse">
            <a:avLst/>
          </a:prstGeom>
          <a:solidFill>
            <a:srgbClr val="0F8A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9640" y="318211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Health-coverage discussion draft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57032" y="3675888"/>
            <a:ext cx="146304" cy="146304"/>
          </a:xfrm>
          <a:prstGeom prst="ellipse">
            <a:avLst/>
          </a:prstGeom>
          <a:solidFill>
            <a:srgbClr val="0F8A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9640" y="362102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 Scan working proposal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57032" y="4114800"/>
            <a:ext cx="146304" cy="146304"/>
          </a:xfrm>
          <a:prstGeom prst="ellipse">
            <a:avLst/>
          </a:prstGeom>
          <a:solidFill>
            <a:srgbClr val="0F8A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49640" y="40599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Blood Bag working proposal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57032" y="4553712"/>
            <a:ext cx="146304" cy="146304"/>
          </a:xfrm>
          <a:prstGeom prst="ellipse">
            <a:avLst/>
          </a:prstGeom>
          <a:solidFill>
            <a:srgbClr val="0F8A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49640" y="44988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Pill Box working proposal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0" y="49560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C6D5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independently by Shuhan He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6D5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participation requires its own review and approval.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49808" y="6227064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FC7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Unicode guidance: https://www.unicode.org/emoji/proposals.html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018520" y="622706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FC7E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1141</Words>
  <Application>Microsoft Office PowerPoint</Application>
  <PresentationFormat>Widescreen</PresentationFormat>
  <Paragraphs>180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Medical Emoji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Emoji proposals for Microsoft review</dc:title>
  <dc:subject>Independent materials for Microsoft review of 2026 Medical Emoji proposals</dc:subject>
  <dc:creator>Shuhan He</dc:creator>
  <cp:lastModifiedBy>Shuhan He, MD Han</cp:lastModifiedBy>
  <cp:revision>1</cp:revision>
  <dcterms:created xsi:type="dcterms:W3CDTF">2026-07-13T12:00:17Z</dcterms:created>
  <dcterms:modified xsi:type="dcterms:W3CDTF">2026-07-13T12:00:17Z</dcterms:modified>
</cp:coreProperties>
</file>