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  <p:sldMasterId id="214748367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3" r:id="rId8"/>
    <p:sldId id="265" r:id="rId20"/>
    <p:sldId id="26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2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6d1520acb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6d1520acb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7fee2faed6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7fee2faed6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0c1add0e3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f0c1add0e3_1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0c1add0e3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0c1add0e3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f07329c55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f07329c55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20463e5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20463e5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713175" y="539500"/>
            <a:ext cx="7717500" cy="561300"/>
          </a:xfrm>
          <a:prstGeom prst="roundRect">
            <a:avLst>
              <a:gd name="adj" fmla="val 50000"/>
            </a:avLst>
          </a:prstGeom>
          <a:solidFill>
            <a:srgbClr val="FFFA3B"/>
          </a:solidFill>
          <a:ln>
            <a:noFill/>
          </a:ln>
        </p:spPr>
        <p:txBody>
          <a:bodyPr spcFirstLastPara="1" wrap="square" lIns="88375" tIns="88375" rIns="88375" bIns="88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ctrTitle"/>
          </p:nvPr>
        </p:nvSpPr>
        <p:spPr>
          <a:xfrm>
            <a:off x="1743075" y="552650"/>
            <a:ext cx="5658000" cy="5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9700" tIns="49700" rIns="49700" bIns="49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3400" b="1" i="0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703659" y="2317790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1696641" y="2324219"/>
            <a:ext cx="750094" cy="509175"/>
          </a:xfrm>
          <a:custGeom>
            <a:avLst/>
            <a:gdLst/>
            <a:ahLst/>
            <a:cxnLst/>
            <a:rect l="l" t="t" r="r" b="b"/>
            <a:pathLst>
              <a:path w="1333500" h="1003300" extrusionOk="0">
                <a:moveTo>
                  <a:pt x="13335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1"/>
          <p:cNvSpPr/>
          <p:nvPr/>
        </p:nvSpPr>
        <p:spPr>
          <a:xfrm>
            <a:off x="2703909" y="2324219"/>
            <a:ext cx="742950" cy="509175"/>
          </a:xfrm>
          <a:custGeom>
            <a:avLst/>
            <a:gdLst/>
            <a:ahLst/>
            <a:cxnLst/>
            <a:rect l="l" t="t" r="r" b="b"/>
            <a:pathLst>
              <a:path w="1320800" h="1003300" extrusionOk="0">
                <a:moveTo>
                  <a:pt x="1320800" y="1003300"/>
                </a:moveTo>
                <a:lnTo>
                  <a:pt x="0" y="10033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033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2703909" y="1578412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145018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0" y="0"/>
                </a:moveTo>
                <a:lnTo>
                  <a:pt x="44450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1432784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/>
          <p:nvPr/>
        </p:nvSpPr>
        <p:spPr>
          <a:xfrm>
            <a:off x="1676747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2428918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267795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24503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1"/>
          <p:cNvSpPr/>
          <p:nvPr/>
        </p:nvSpPr>
        <p:spPr>
          <a:xfrm>
            <a:off x="370046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3430592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3679625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4050410" y="2303873"/>
            <a:ext cx="40200" cy="36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1"/>
          <p:cNvSpPr/>
          <p:nvPr/>
        </p:nvSpPr>
        <p:spPr>
          <a:xfrm>
            <a:off x="3450431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697016" y="2324219"/>
            <a:ext cx="742950" cy="515620"/>
          </a:xfrm>
          <a:custGeom>
            <a:avLst/>
            <a:gdLst/>
            <a:ahLst/>
            <a:cxnLst/>
            <a:rect l="l" t="t" r="r" b="b"/>
            <a:pathLst>
              <a:path w="1320800" h="1016000" extrusionOk="0">
                <a:moveTo>
                  <a:pt x="13208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4693444" y="3060383"/>
            <a:ext cx="757238" cy="515620"/>
          </a:xfrm>
          <a:custGeom>
            <a:avLst/>
            <a:gdLst/>
            <a:ahLst/>
            <a:cxnLst/>
            <a:rect l="l" t="t" r="r" b="b"/>
            <a:pathLst>
              <a:path w="1346200" h="1016000" extrusionOk="0">
                <a:moveTo>
                  <a:pt x="13462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46200" y="0"/>
                </a:lnTo>
                <a:lnTo>
                  <a:pt x="1346200" y="101600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4426733" y="2557890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4675767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450556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5700713" y="2321004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5433939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5682973" y="2557890"/>
            <a:ext cx="40200" cy="36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5457825" y="2574965"/>
            <a:ext cx="242888" cy="0"/>
          </a:xfrm>
          <a:custGeom>
            <a:avLst/>
            <a:gdLst/>
            <a:ahLst/>
            <a:cxnLst/>
            <a:rect l="l" t="t" r="r" b="b"/>
            <a:pathLst>
              <a:path w="431800" h="120000" extrusionOk="0">
                <a:moveTo>
                  <a:pt x="4318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6697266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430073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6679115" y="2557890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6450806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7690247" y="2324219"/>
            <a:ext cx="750094" cy="515620"/>
          </a:xfrm>
          <a:custGeom>
            <a:avLst/>
            <a:gdLst/>
            <a:ahLst/>
            <a:cxnLst/>
            <a:rect l="l" t="t" r="r" b="b"/>
            <a:pathLst>
              <a:path w="1333500" h="1016000" extrusionOk="0">
                <a:moveTo>
                  <a:pt x="1333500" y="1016000"/>
                </a:moveTo>
                <a:lnTo>
                  <a:pt x="0" y="10160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10160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7426216" y="2557890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7675249" y="2557890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7443788" y="2574965"/>
            <a:ext cx="250031" cy="0"/>
          </a:xfrm>
          <a:custGeom>
            <a:avLst/>
            <a:gdLst/>
            <a:ahLst/>
            <a:cxnLst/>
            <a:rect l="l" t="t" r="r" b="b"/>
            <a:pathLst>
              <a:path w="444500" h="120000" extrusionOk="0">
                <a:moveTo>
                  <a:pt x="4445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430592" y="1815768"/>
            <a:ext cx="40200" cy="36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4050410" y="1815768"/>
            <a:ext cx="40200" cy="3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3450431" y="1835587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068366" y="1838801"/>
            <a:ext cx="0" cy="483394"/>
          </a:xfrm>
          <a:custGeom>
            <a:avLst/>
            <a:gdLst/>
            <a:ahLst/>
            <a:cxnLst/>
            <a:rect l="l" t="t" r="r" b="b"/>
            <a:pathLst>
              <a:path w="120000" h="952500" extrusionOk="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6048232" y="2821877"/>
            <a:ext cx="40200" cy="36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5428414" y="3309983"/>
            <a:ext cx="40200" cy="3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6048232" y="3309983"/>
            <a:ext cx="40200" cy="36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450681" y="3327202"/>
            <a:ext cx="621506" cy="0"/>
          </a:xfrm>
          <a:custGeom>
            <a:avLst/>
            <a:gdLst/>
            <a:ahLst/>
            <a:cxnLst/>
            <a:rect l="l" t="t" r="r" b="b"/>
            <a:pathLst>
              <a:path w="1104900" h="120000" extrusionOk="0">
                <a:moveTo>
                  <a:pt x="110490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068616" y="2835354"/>
            <a:ext cx="0" cy="489839"/>
          </a:xfrm>
          <a:custGeom>
            <a:avLst/>
            <a:gdLst/>
            <a:ahLst/>
            <a:cxnLst/>
            <a:rect l="l" t="t" r="r" b="b"/>
            <a:pathLst>
              <a:path w="120000" h="965200" extrusionOk="0">
                <a:moveTo>
                  <a:pt x="0" y="96520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988818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98613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988506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983130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987882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7975069" y="2227778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95CE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B5B7B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983130" y="2984115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3986213" y="2758202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7B869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985900" y="2247901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0"/>
                </a:move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2988506" y="1503337"/>
            <a:ext cx="171450" cy="154686"/>
          </a:xfrm>
          <a:custGeom>
            <a:avLst/>
            <a:gdLst/>
            <a:ahLst/>
            <a:cxnLst/>
            <a:rect l="l" t="t" r="r" b="b"/>
            <a:pathLst>
              <a:path w="304800" h="304800" extrusionOk="0">
                <a:moveTo>
                  <a:pt x="152400" y="304800"/>
                </a:moveTo>
                <a:lnTo>
                  <a:pt x="200568" y="297030"/>
                </a:lnTo>
                <a:lnTo>
                  <a:pt x="242403" y="275394"/>
                </a:lnTo>
                <a:lnTo>
                  <a:pt x="275394" y="242403"/>
                </a:lnTo>
                <a:lnTo>
                  <a:pt x="297030" y="200568"/>
                </a:lnTo>
                <a:lnTo>
                  <a:pt x="304800" y="152400"/>
                </a:lnTo>
                <a:lnTo>
                  <a:pt x="297030" y="104231"/>
                </a:lnTo>
                <a:lnTo>
                  <a:pt x="275394" y="62396"/>
                </a:lnTo>
                <a:lnTo>
                  <a:pt x="242403" y="29405"/>
                </a:lnTo>
                <a:lnTo>
                  <a:pt x="200568" y="7769"/>
                </a:lnTo>
                <a:lnTo>
                  <a:pt x="152400" y="0"/>
                </a:lnTo>
                <a:lnTo>
                  <a:pt x="104231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1"/>
                </a:lnTo>
                <a:lnTo>
                  <a:pt x="0" y="152400"/>
                </a:lnTo>
                <a:lnTo>
                  <a:pt x="7769" y="200568"/>
                </a:lnTo>
                <a:lnTo>
                  <a:pt x="29405" y="242403"/>
                </a:lnTo>
                <a:lnTo>
                  <a:pt x="62396" y="275394"/>
                </a:lnTo>
                <a:lnTo>
                  <a:pt x="104231" y="297030"/>
                </a:lnTo>
                <a:lnTo>
                  <a:pt x="152400" y="304800"/>
                </a:lnTo>
                <a:close/>
              </a:path>
            </a:pathLst>
          </a:custGeom>
          <a:noFill/>
          <a:ln w="38100" cap="flat" cmpd="sng">
            <a:solidFill>
              <a:srgbClr val="484E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788070" y="5017143"/>
            <a:ext cx="7578090" cy="126971"/>
          </a:xfrm>
          <a:custGeom>
            <a:avLst/>
            <a:gdLst/>
            <a:ahLst/>
            <a:cxnLst/>
            <a:rect l="l" t="t" r="r" b="b"/>
            <a:pathLst>
              <a:path w="13472160" h="250190" extrusionOk="0">
                <a:moveTo>
                  <a:pt x="0" y="249593"/>
                </a:moveTo>
                <a:lnTo>
                  <a:pt x="13471982" y="249593"/>
                </a:lnTo>
                <a:lnTo>
                  <a:pt x="13471982" y="0"/>
                </a:lnTo>
                <a:lnTo>
                  <a:pt x="0" y="0"/>
                </a:lnTo>
                <a:lnTo>
                  <a:pt x="0" y="249593"/>
                </a:lnTo>
                <a:close/>
              </a:path>
            </a:pathLst>
          </a:custGeom>
          <a:solidFill>
            <a:srgbClr val="95CED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82473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82473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">
  <p:cSld name="Content with Photo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443020" y="1072706"/>
            <a:ext cx="5778600" cy="6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2BB46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3"/>
          <p:cNvSpPr txBox="1">
            <a:spLocks noGrp="1"/>
          </p:cNvSpPr>
          <p:nvPr>
            <p:ph type="body" idx="1"/>
          </p:nvPr>
        </p:nvSpPr>
        <p:spPr>
          <a:xfrm>
            <a:off x="443020" y="1782952"/>
            <a:ext cx="5778600" cy="2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L="457200" lvl="0" indent="-2286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3"/>
          <p:cNvSpPr>
            <a:spLocks noGrp="1"/>
          </p:cNvSpPr>
          <p:nvPr>
            <p:ph type="pic" idx="2"/>
          </p:nvPr>
        </p:nvSpPr>
        <p:spPr>
          <a:xfrm>
            <a:off x="6406464" y="1210961"/>
            <a:ext cx="27375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375" rIns="68750" bIns="34375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Char char="•"/>
              <a:defRPr sz="12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1213608" y="2625452"/>
            <a:ext cx="67167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3400" b="1" i="0" u="none" strike="noStrike" cap="none">
                <a:solidFill>
                  <a:srgbClr val="484E5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509056" y="1118711"/>
            <a:ext cx="81258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11.png"/><Relationship Id="rId19" Type="http://schemas.openxmlformats.org/officeDocument/2006/relationships/image" Target="../media/image19.png"/><Relationship Id="rId20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19.png"/><Relationship Id="rId18" Type="http://schemas.openxmlformats.org/officeDocument/2006/relationships/image" Target="../media/image36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 rotWithShape="1">
          <a:blip r:embed="rId4">
            <a:alphaModFix/>
          </a:blip>
          <a:srcRect t="7280" r="41901" b="7272"/>
          <a:stretch/>
        </p:blipFill>
        <p:spPr>
          <a:xfrm>
            <a:off x="5646750" y="0"/>
            <a:ext cx="34972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1795800" y="1154000"/>
            <a:ext cx="5552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7B869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for the Medical Community</a:t>
            </a:r>
            <a:endParaRPr sz="4000" b="1">
              <a:solidFill>
                <a:srgbClr val="7B869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551" y="3041400"/>
            <a:ext cx="1022387" cy="10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1063" y="3041400"/>
            <a:ext cx="1078371" cy="102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3088050" y="4344300"/>
            <a:ext cx="2967900" cy="499200"/>
          </a:xfrm>
          <a:prstGeom prst="roundRect">
            <a:avLst>
              <a:gd name="adj" fmla="val 50000"/>
            </a:avLst>
          </a:prstGeom>
          <a:solidFill>
            <a:srgbClr val="656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</a:rPr>
              <a:t>Shuhan He, MD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301375" y="3273600"/>
            <a:ext cx="26922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Massachusetts General Hospital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Lab of Computer Science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Assistant Professor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Harvard Medical School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Internal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7B8698"/>
                </a:solidFill>
              </a:rPr>
              <a:t>Department of Emergency medicine</a:t>
            </a:r>
            <a:endParaRPr sz="1000" b="1">
              <a:solidFill>
                <a:srgbClr val="7B869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7B8698"/>
              </a:solidFill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4698" y="321075"/>
            <a:ext cx="1430750" cy="38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37776" y="330391"/>
            <a:ext cx="1079750" cy="36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248" y="330402"/>
            <a:ext cx="1430752" cy="29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8225" y="193443"/>
            <a:ext cx="1079749" cy="566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Emoji have significant medical importance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2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8700" y="1785725"/>
            <a:ext cx="5974950" cy="2574150"/>
          </a:xfrm>
          <a:prstGeom prst="rect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5" name="Google Shape;19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6318900" y="1053875"/>
            <a:ext cx="1653900" cy="16539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197" name="Google Shape;19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7071" y="1695338"/>
            <a:ext cx="1257576" cy="370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550725" y="347325"/>
            <a:ext cx="148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2019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ldNum" idx="12"/>
          </p:nvPr>
        </p:nvSpPr>
        <p:spPr>
          <a:xfrm>
            <a:off x="8680675" y="4853850"/>
            <a:ext cx="242400" cy="15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0</a:t>
            </a:r>
            <a:fld id="{00000000-1234-1234-1234-123412341234}" type="slidenum">
              <a:rPr lang="en" sz="800">
                <a:latin typeface="Arial"/>
                <a:ea typeface="Arial"/>
                <a:cs typeface="Arial"/>
                <a:sym typeface="Arial"/>
              </a:rPr>
              <a:t>3</a:t>
            </a:fld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7313" y="691600"/>
            <a:ext cx="5449800" cy="424267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6458974" y="1920588"/>
            <a:ext cx="1784700" cy="1784700"/>
          </a:xfrm>
          <a:prstGeom prst="roundRect">
            <a:avLst>
              <a:gd name="adj" fmla="val 50000"/>
            </a:avLst>
          </a:prstGeom>
          <a:solidFill>
            <a:srgbClr val="B7BDC6"/>
          </a:solidFill>
          <a:ln>
            <a:noFill/>
          </a:ln>
          <a:effectLst>
            <a:outerShdw blurRad="57150" dist="28575" dir="10380000" algn="bl" rotWithShape="0">
              <a:srgbClr val="000000">
                <a:alpha val="109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4725" y="2228324"/>
            <a:ext cx="1273199" cy="1169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18" name="Google Shape;218;p27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4</a:t>
            </a:fld>
            <a:endParaRPr sz="800">
              <a:solidFill>
                <a:srgbClr val="888888"/>
              </a:solidFill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1524000" y="1166150"/>
            <a:ext cx="895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💉</a:t>
            </a:r>
            <a:endParaRPr sz="6000"/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02342" y="1442683"/>
            <a:ext cx="585959" cy="58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0863" y="1364143"/>
            <a:ext cx="518261" cy="700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9270" y="1364144"/>
            <a:ext cx="518255" cy="68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4432" y="1418939"/>
            <a:ext cx="585959" cy="578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47290" y="2581814"/>
            <a:ext cx="585959" cy="63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31041" y="2523010"/>
            <a:ext cx="328612" cy="7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86425" y="2587836"/>
            <a:ext cx="467186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1697" y="2581811"/>
            <a:ext cx="633452" cy="633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57399" y="2587207"/>
            <a:ext cx="380076" cy="622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75442" y="3697395"/>
            <a:ext cx="585959" cy="617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54453" y="3701459"/>
            <a:ext cx="585959" cy="60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23547" y="3699711"/>
            <a:ext cx="633454" cy="649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41112" y="3731573"/>
            <a:ext cx="418542" cy="585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03292" y="3705724"/>
            <a:ext cx="633453" cy="60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 txBox="1"/>
          <p:nvPr/>
        </p:nvSpPr>
        <p:spPr>
          <a:xfrm>
            <a:off x="550725" y="347325"/>
            <a:ext cx="3259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Emoji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5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2925" y="1395275"/>
            <a:ext cx="713111" cy="7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6">
            <a:alphaModFix/>
          </a:blip>
          <a:srcRect l="25176" t="11179" r="19831" b="15080"/>
          <a:stretch/>
        </p:blipFill>
        <p:spPr>
          <a:xfrm>
            <a:off x="3149863" y="1367990"/>
            <a:ext cx="467176" cy="73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9768" y="1358125"/>
            <a:ext cx="780457" cy="7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9525" y="1349025"/>
            <a:ext cx="277809" cy="7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90489" y="2585063"/>
            <a:ext cx="585949" cy="66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00776" y="2523237"/>
            <a:ext cx="526576" cy="821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8788" y="2523226"/>
            <a:ext cx="467175" cy="882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30700" y="2646375"/>
            <a:ext cx="633449" cy="63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23550" y="3754225"/>
            <a:ext cx="633450" cy="6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43650" y="3777869"/>
            <a:ext cx="894452" cy="586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324750" y="3806775"/>
            <a:ext cx="823817" cy="52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11875" y="3736685"/>
            <a:ext cx="713100" cy="668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5213900" y="298300"/>
            <a:ext cx="1572600" cy="64980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484E56"/>
              </a:solidFill>
            </a:endParaRPr>
          </a:p>
        </p:txBody>
      </p:sp>
      <p:pic>
        <p:nvPicPr>
          <p:cNvPr id="260" name="Google Shape;260;p2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410625" y="409712"/>
            <a:ext cx="1179151" cy="4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550725" y="347325"/>
            <a:ext cx="451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New Candidates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2" name="Google Shape;262;p2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893021" y="1311014"/>
            <a:ext cx="1051350" cy="79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8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550049" y="2631138"/>
            <a:ext cx="780451" cy="572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Every resubmission reset the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87552"/>
            <a:ext cx="791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Unicode bars a declined emoji from re-review for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four years</a:t>
            </a:r>
            <a:r>
              <a:rPr sz="1050" b="0" i="0">
                <a:solidFill>
                  <a:srgbClr val="656F7F"/>
                </a:solidFill>
                <a:latin typeface="Calibri"/>
              </a:rPr>
              <a:t>, counted from the decline.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883664"/>
            <a:ext cx="7498079" cy="1828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6947" y="1833372"/>
            <a:ext cx="118872" cy="118872"/>
          </a:xfrm>
          <a:prstGeom prst="ellipse">
            <a:avLst/>
          </a:prstGeom>
          <a:solidFill>
            <a:srgbClr val="656F7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56F7F"/>
                </a:solidFill>
                <a:latin typeface="Century Gothic"/>
              </a:rP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Heart + lungs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submitted</a:t>
            </a:r>
          </a:p>
        </p:txBody>
      </p:sp>
      <p:sp>
        <p:nvSpPr>
          <p:cNvPr id="12" name="Oval 11"/>
          <p:cNvSpPr/>
          <p:nvPr/>
        </p:nvSpPr>
        <p:spPr>
          <a:xfrm>
            <a:off x="2226564" y="1833372"/>
            <a:ext cx="118872" cy="118872"/>
          </a:xfrm>
          <a:prstGeom prst="ellipse">
            <a:avLst/>
          </a:prstGeom>
          <a:solidFill>
            <a:srgbClr val="1E7A5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7A50"/>
                </a:solidFill>
                <a:latin typeface="Century Gothic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Both ship in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Emoji 13.0</a:t>
            </a:r>
          </a:p>
        </p:txBody>
      </p:sp>
      <p:sp>
        <p:nvSpPr>
          <p:cNvPr id="15" name="Oval 14"/>
          <p:cNvSpPr/>
          <p:nvPr/>
        </p:nvSpPr>
        <p:spPr>
          <a:xfrm>
            <a:off x="3726179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45535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5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First wave declined;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JAMA makes the case</a:t>
            </a:r>
          </a:p>
        </p:txBody>
      </p:sp>
      <p:sp>
        <p:nvSpPr>
          <p:cNvPr id="18" name="Oval 17"/>
          <p:cNvSpPr/>
          <p:nvPr/>
        </p:nvSpPr>
        <p:spPr>
          <a:xfrm>
            <a:off x="5225796" y="1833372"/>
            <a:ext cx="118872" cy="118872"/>
          </a:xfrm>
          <a:prstGeom prst="ellipse">
            <a:avLst/>
          </a:prstGeom>
          <a:solidFill>
            <a:srgbClr val="8A5E0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8A5E0F"/>
                </a:solidFill>
                <a:latin typeface="Century Gothic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Kidney, stomach,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liver declined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1833372"/>
            <a:ext cx="118872" cy="118872"/>
          </a:xfrm>
          <a:prstGeom prst="ellipse">
            <a:avLst/>
          </a:prstGeom>
          <a:solidFill>
            <a:srgbClr val="A3302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4768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3302B"/>
                </a:solidFill>
                <a:latin typeface="Century Gothic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Spine, intestines,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ECG declined</a:t>
            </a:r>
          </a:p>
        </p:txBody>
      </p:sp>
      <p:sp>
        <p:nvSpPr>
          <p:cNvPr id="24" name="Oval 23"/>
          <p:cNvSpPr/>
          <p:nvPr/>
        </p:nvSpPr>
        <p:spPr>
          <a:xfrm>
            <a:off x="8206739" y="1815084"/>
            <a:ext cx="155448" cy="155448"/>
          </a:xfrm>
          <a:prstGeom prst="ellipse">
            <a:avLst/>
          </a:prstGeom>
          <a:solidFill>
            <a:srgbClr val="2F5D8C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44383" y="14630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F5D8C"/>
                </a:solidFill>
                <a:latin typeface="Century Gothic"/>
              </a:rP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2066544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Window shuts</a:t>
            </a:r>
          </a:p>
          <a:p>
            <a:pPr algn="ctr"/>
            <a:r>
              <a:rPr sz="800" b="0" i="0">
                <a:solidFill>
                  <a:srgbClr val="656F7F"/>
                </a:solidFill>
                <a:latin typeface="Calibri"/>
              </a:rPr>
              <a:t>July 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2810865"/>
            <a:ext cx="2359151" cy="45720"/>
          </a:xfrm>
          <a:prstGeom prst="rect">
            <a:avLst/>
          </a:prstGeom>
          <a:solidFill>
            <a:srgbClr val="1E7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7A50"/>
                </a:solidFill>
                <a:latin typeface="Century Gothic"/>
              </a:rPr>
              <a:t>Clear to file now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8 concepts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White blood cell · Pill pack · Pill box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Blood bag · Leg cast · IV bag</a:t>
            </a:r>
          </a:p>
          <a:p>
            <a:r>
              <a:rPr sz="880" b="1" i="0">
                <a:solidFill>
                  <a:srgbClr val="484E56"/>
                </a:solidFill>
                <a:latin typeface="Calibri"/>
              </a:rPr>
              <a:t>CT scan · Weight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Last declined in the 2021 cycle. The four-year bar has lapsed.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55264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46704" y="2810865"/>
            <a:ext cx="2359151" cy="45720"/>
          </a:xfrm>
          <a:prstGeom prst="rect">
            <a:avLst/>
          </a:prstGeom>
          <a:solidFill>
            <a:srgbClr val="8A5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83280" y="2944368"/>
            <a:ext cx="22860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 i="0" dirty="0">
                <a:solidFill>
                  <a:srgbClr val="8A5E0F"/>
                </a:solidFill>
                <a:latin typeface="Century Gothic"/>
              </a:rPr>
              <a:t>Unclear</a:t>
            </a:r>
            <a:r>
              <a:rPr sz="850" b="0" i="0" dirty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Kidney · Stomach · 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 dirty="0">
                <a:solidFill>
                  <a:srgbClr val="656F7F"/>
                </a:solidFill>
                <a:latin typeface="Calibri"/>
              </a:rPr>
              <a:t>Submitted July 2022, declined that November. From the decline, the bar lifts Nov 2026 — after the window shuts. From submission, they clear by 12, 3 and 1 day.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798064"/>
            <a:ext cx="25420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2810865"/>
            <a:ext cx="2359151" cy="45720"/>
          </a:xfrm>
          <a:prstGeom prst="rect">
            <a:avLst/>
          </a:prstGeom>
          <a:solidFill>
            <a:srgbClr val="A3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71616" y="2944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A3302B"/>
                </a:solidFill>
                <a:latin typeface="Century Gothic"/>
              </a:rPr>
              <a:t>Barred</a:t>
            </a:r>
            <a:r>
              <a:rPr sz="850" b="0" i="0">
                <a:solidFill>
                  <a:srgbClr val="B7BDC6"/>
                </a:solidFill>
                <a:latin typeface="Calibri"/>
              </a:rPr>
              <a:t>   3 concepts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1616" y="32004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 i="0">
                <a:solidFill>
                  <a:srgbClr val="484E56"/>
                </a:solidFill>
                <a:latin typeface="Calibri"/>
              </a:rPr>
              <a:t>Spine · Intestines · ECG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675887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i="0">
                <a:solidFill>
                  <a:srgbClr val="656F7F"/>
                </a:solidFill>
                <a:latin typeface="Calibri"/>
              </a:rPr>
              <a:t>Submitted days after the 2024 window opened, declined that cycle. The bar lifts around Nov 2028.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 publishes submission dates, not decline dates; declines issue at cycle end, submitters notified by Nov 30.  Sources: unicode.org/emoji/emoji-proposals-status.html · unicode.org/emoji/proposals.html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9"/>
          <p:cNvSpPr txBox="1"/>
          <p:nvPr/>
        </p:nvSpPr>
        <p:spPr>
          <a:xfrm>
            <a:off x="550725" y="347325"/>
            <a:ext cx="832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484E5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Request</a:t>
            </a:r>
            <a:endParaRPr sz="3000" b="1">
              <a:solidFill>
                <a:srgbClr val="484E5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0" name="Google Shape;2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50" y="538702"/>
            <a:ext cx="154400" cy="26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9"/>
          <p:cNvSpPr/>
          <p:nvPr/>
        </p:nvSpPr>
        <p:spPr>
          <a:xfrm>
            <a:off x="166925" y="4742250"/>
            <a:ext cx="990300" cy="26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B8698"/>
                </a:solidFill>
              </a:rPr>
              <a:t>Shuhan He, MD</a:t>
            </a:r>
            <a:endParaRPr/>
          </a:p>
        </p:txBody>
      </p:sp>
      <p:sp>
        <p:nvSpPr>
          <p:cNvPr id="272" name="Google Shape;272;p29"/>
          <p:cNvSpPr txBox="1"/>
          <p:nvPr/>
        </p:nvSpPr>
        <p:spPr>
          <a:xfrm>
            <a:off x="8680675" y="4853850"/>
            <a:ext cx="242400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888888"/>
                </a:solidFill>
              </a:rPr>
              <a:t>8</a:t>
            </a:fld>
            <a:endParaRPr sz="800">
              <a:solidFill>
                <a:srgbClr val="888888"/>
              </a:solidFill>
            </a:endParaRPr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7925" y="235825"/>
            <a:ext cx="858925" cy="1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" y="539496"/>
            <a:ext cx="155448" cy="265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856" y="237744"/>
            <a:ext cx="859536" cy="155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47472"/>
            <a:ext cx="7315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484E56"/>
                </a:solidFill>
                <a:latin typeface="Century Gothic"/>
              </a:rPr>
              <a:t>Inside the Unicode Consortium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745736"/>
            <a:ext cx="14630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56F7F"/>
                </a:solidFill>
                <a:latin typeface="Calibri"/>
              </a:rPr>
              <a:t>Shuhan He, 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7918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56F7F"/>
                </a:solidFill>
                <a:latin typeface="Calibri"/>
              </a:rPr>
              <a:t>Microsoft sits on the board and votes in the UTC. </a:t>
            </a:r>
            <a:r>
              <a:rPr sz="1050" b="1" i="0">
                <a:solidFill>
                  <a:srgbClr val="484E56"/>
                </a:solidFill>
                <a:latin typeface="Calibri"/>
              </a:rPr>
              <a:t>Emoji sits one level below the UTC.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16736"/>
            <a:ext cx="201168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344168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Unicode Consortium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5599" y="1682495"/>
            <a:ext cx="12801" cy="164592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736" y="1840687"/>
            <a:ext cx="6510527" cy="12801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0335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Board of</a:t>
            </a:r>
          </a:p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Directors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F5D8C"/>
                </a:solidFill>
                <a:latin typeface="Calibri"/>
              </a:rPr>
              <a:t>Microsoft holds a seat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7967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85415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CLDR Technical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79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locale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5599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13048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200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Unicode Technical</a:t>
            </a:r>
          </a:p>
          <a:p>
            <a:pPr algn="ctr"/>
            <a:r>
              <a:rPr sz="850" b="1" i="0">
                <a:solidFill>
                  <a:srgbClr val="2F5D8C"/>
                </a:solidFill>
                <a:latin typeface="Century Gothic"/>
              </a:rPr>
              <a:t>Committee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2F5D8C"/>
                </a:solidFill>
                <a:latin typeface="Calibri"/>
              </a:rPr>
              <a:t>Microsoft votes 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3231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40680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3832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ICU Technical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544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ICU libraries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20863" y="1847088"/>
            <a:ext cx="12801" cy="128016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68311" y="1975104"/>
            <a:ext cx="1517904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41463" y="212140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Editorial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Committee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5" y="2523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publications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59198" y="2779776"/>
            <a:ext cx="25603" cy="128016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16736" y="2894990"/>
            <a:ext cx="6510527" cy="25603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03934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7784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8A5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8A5E0F"/>
                </a:solidFill>
                <a:latin typeface="Century Gothic"/>
              </a:rPr>
              <a:t>Emoji Standard &amp;</a:t>
            </a:r>
          </a:p>
          <a:p>
            <a:pPr algn="ctr"/>
            <a:r>
              <a:rPr sz="850" b="1" i="0">
                <a:solidFill>
                  <a:srgbClr val="8A5E0F"/>
                </a:solidFill>
                <a:latin typeface="Century Gothic"/>
              </a:rPr>
              <a:t>Research WG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7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A5E0F"/>
                </a:solidFill>
                <a:latin typeface="Calibri"/>
              </a:rPr>
              <a:t>our proposal is read 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31566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185415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8568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Script Encoding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79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new scripts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9198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813048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CJK &amp; Unihan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67911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Han characters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6830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40680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3832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Properties &amp;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Algorithms WG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95544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character properties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4462" y="2907792"/>
            <a:ext cx="25603" cy="128015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68311" y="3035808"/>
            <a:ext cx="1517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D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41463" y="3182112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Editorial</a:t>
            </a:r>
          </a:p>
          <a:p>
            <a:pPr algn="ctr"/>
            <a:r>
              <a:rPr sz="850" b="1" i="0">
                <a:solidFill>
                  <a:srgbClr val="484E56"/>
                </a:solidFill>
                <a:latin typeface="Century Gothic"/>
              </a:rPr>
              <a:t>WG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3175" y="351129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656F7F"/>
                </a:solidFill>
                <a:latin typeface="Calibri"/>
              </a:rPr>
              <a:t>specification 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2784348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656F7F"/>
                </a:solidFill>
                <a:latin typeface="Calibri"/>
              </a:rPr>
              <a:t>working groups recommend; the UTC votes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3913632"/>
            <a:ext cx="8010144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F5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4023360"/>
            <a:ext cx="76443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F5D8C"/>
                </a:solidFill>
                <a:latin typeface="Century Gothic"/>
              </a:rPr>
              <a:t>Microsoft's vote sits one level above the working group that reads our proposal.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4279392"/>
            <a:ext cx="76443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56F7F"/>
                </a:solidFill>
                <a:latin typeface="Calibri"/>
              </a:rPr>
              <a:t>Full member = 1 UTC vote (Supporting = ½; associate, liaison and individual members do not vote)  ·  board seat: Vishal Chowdhary  ·  ships Segoe UI Emoji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4764024"/>
            <a:ext cx="6720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56F7F"/>
                </a:solidFill>
                <a:latin typeface="Calibri"/>
              </a:rPr>
              <a:t>unicode.org/consortium/consort.html  ·  unicode.org/consortium/utc.html  ·  unicode.org/consortium/directors.html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On-screen Show (16:9)</PresentationFormat>
  <Paragraphs>89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Shuhan He, MD Han</cp:lastModifiedBy>
  <cp:revision>1</cp:revision>
  <dcterms:modified xsi:type="dcterms:W3CDTF">2026-07-09T15:20:28Z</dcterms:modified>
</cp:coreProperties>
</file>