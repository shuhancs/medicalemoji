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  <p:sldMasterId id="2147483670" r:id="rId2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3" r:id="rId8"/>
    <p:sldId id="265" r:id="rId20"/>
    <p:sldId id="266" r:id="rId9"/>
    <p:sldId id="267" r:id="rId21"/>
    <p:sldId id="261" r:id="rId10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2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7.xml"/><Relationship Id="rId21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f6d1520acb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f6d1520acb_0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7fee2faed6_1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7fee2faed6_1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f0c1add0e3_1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f0c1add0e3_1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f0c1add0e3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f0c1add0e3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f07329c55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f07329c55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20463e5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f20463e5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1213608" y="2625452"/>
            <a:ext cx="67167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3400" b="1" i="0">
                <a:solidFill>
                  <a:srgbClr val="484E5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509056" y="1118711"/>
            <a:ext cx="8125800" cy="17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1213608" y="2625452"/>
            <a:ext cx="67167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3400" b="1" i="0">
                <a:solidFill>
                  <a:srgbClr val="484E5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509056" y="1118711"/>
            <a:ext cx="8125800" cy="17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/>
          <p:nvPr/>
        </p:nvSpPr>
        <p:spPr>
          <a:xfrm>
            <a:off x="713175" y="539500"/>
            <a:ext cx="7717500" cy="561300"/>
          </a:xfrm>
          <a:prstGeom prst="roundRect">
            <a:avLst>
              <a:gd name="adj" fmla="val 50000"/>
            </a:avLst>
          </a:prstGeom>
          <a:solidFill>
            <a:srgbClr val="FFFA3B"/>
          </a:solidFill>
          <a:ln>
            <a:noFill/>
          </a:ln>
        </p:spPr>
        <p:txBody>
          <a:bodyPr spcFirstLastPara="1" wrap="square" lIns="88375" tIns="88375" rIns="88375" bIns="88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7"/>
          <p:cNvSpPr txBox="1">
            <a:spLocks noGrp="1"/>
          </p:cNvSpPr>
          <p:nvPr>
            <p:ph type="ctrTitle"/>
          </p:nvPr>
        </p:nvSpPr>
        <p:spPr>
          <a:xfrm>
            <a:off x="1743075" y="552650"/>
            <a:ext cx="5658000" cy="5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9700" tIns="49700" rIns="49700" bIns="4970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</a:defRPr>
            </a:lvl1pPr>
            <a:lvl2pPr lvl="1">
              <a:buNone/>
              <a:defRPr sz="1300">
                <a:solidFill>
                  <a:schemeClr val="dk1"/>
                </a:solidFill>
              </a:defRPr>
            </a:lvl2pPr>
            <a:lvl3pPr lvl="2">
              <a:buNone/>
              <a:defRPr sz="1300">
                <a:solidFill>
                  <a:schemeClr val="dk1"/>
                </a:solidFill>
              </a:defRPr>
            </a:lvl3pPr>
            <a:lvl4pPr lvl="3">
              <a:buNone/>
              <a:defRPr sz="1300">
                <a:solidFill>
                  <a:schemeClr val="dk1"/>
                </a:solidFill>
              </a:defRPr>
            </a:lvl4pPr>
            <a:lvl5pPr lvl="4">
              <a:buNone/>
              <a:defRPr sz="1300">
                <a:solidFill>
                  <a:schemeClr val="dk1"/>
                </a:solidFill>
              </a:defRPr>
            </a:lvl5pPr>
            <a:lvl6pPr lvl="5">
              <a:buNone/>
              <a:defRPr sz="1300">
                <a:solidFill>
                  <a:schemeClr val="dk1"/>
                </a:solidFill>
              </a:defRPr>
            </a:lvl6pPr>
            <a:lvl7pPr lvl="6">
              <a:buNone/>
              <a:defRPr sz="1300">
                <a:solidFill>
                  <a:schemeClr val="dk1"/>
                </a:solidFill>
              </a:defRPr>
            </a:lvl7pPr>
            <a:lvl8pPr lvl="7">
              <a:buNone/>
              <a:defRPr sz="1300">
                <a:solidFill>
                  <a:schemeClr val="dk1"/>
                </a:solidFill>
              </a:defRPr>
            </a:lvl8pPr>
            <a:lvl9pPr lvl="8">
              <a:buNone/>
              <a:defRPr sz="1300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1213608" y="2625452"/>
            <a:ext cx="67167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3400" b="1" i="0">
                <a:solidFill>
                  <a:srgbClr val="484E5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>
            <a:spLocks noGrp="1"/>
          </p:cNvSpPr>
          <p:nvPr>
            <p:ph type="title"/>
          </p:nvPr>
        </p:nvSpPr>
        <p:spPr>
          <a:xfrm>
            <a:off x="1213608" y="2625452"/>
            <a:ext cx="67167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3400" b="1" i="0">
                <a:solidFill>
                  <a:srgbClr val="484E5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body" idx="2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>
            <a:spLocks noGrp="1"/>
          </p:cNvSpPr>
          <p:nvPr>
            <p:ph type="ctrTitle"/>
          </p:nvPr>
        </p:nvSpPr>
        <p:spPr>
          <a:xfrm>
            <a:off x="685800" y="1594485"/>
            <a:ext cx="77724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0"/>
          <p:cNvSpPr txBox="1">
            <a:spLocks noGrp="1"/>
          </p:cNvSpPr>
          <p:nvPr>
            <p:ph type="subTitle" idx="1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/>
          <p:nvPr/>
        </p:nvSpPr>
        <p:spPr>
          <a:xfrm>
            <a:off x="703659" y="2317790"/>
            <a:ext cx="750094" cy="515620"/>
          </a:xfrm>
          <a:custGeom>
            <a:avLst/>
            <a:gdLst/>
            <a:ahLst/>
            <a:cxnLst/>
            <a:rect l="l" t="t" r="r" b="b"/>
            <a:pathLst>
              <a:path w="1333500" h="1016000" extrusionOk="0">
                <a:moveTo>
                  <a:pt x="13335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1333500" y="0"/>
                </a:lnTo>
                <a:lnTo>
                  <a:pt x="1333500" y="101600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1"/>
          <p:cNvSpPr/>
          <p:nvPr/>
        </p:nvSpPr>
        <p:spPr>
          <a:xfrm>
            <a:off x="703659" y="2317790"/>
            <a:ext cx="750094" cy="515620"/>
          </a:xfrm>
          <a:custGeom>
            <a:avLst/>
            <a:gdLst/>
            <a:ahLst/>
            <a:cxnLst/>
            <a:rect l="l" t="t" r="r" b="b"/>
            <a:pathLst>
              <a:path w="1333500" h="1016000" extrusionOk="0">
                <a:moveTo>
                  <a:pt x="13335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1333500" y="0"/>
                </a:lnTo>
                <a:lnTo>
                  <a:pt x="1333500" y="1016000"/>
                </a:lnTo>
                <a:close/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1"/>
          <p:cNvSpPr/>
          <p:nvPr/>
        </p:nvSpPr>
        <p:spPr>
          <a:xfrm>
            <a:off x="1696641" y="2324219"/>
            <a:ext cx="750094" cy="509175"/>
          </a:xfrm>
          <a:custGeom>
            <a:avLst/>
            <a:gdLst/>
            <a:ahLst/>
            <a:cxnLst/>
            <a:rect l="l" t="t" r="r" b="b"/>
            <a:pathLst>
              <a:path w="1333500" h="1003300" extrusionOk="0">
                <a:moveTo>
                  <a:pt x="1333500" y="1003300"/>
                </a:moveTo>
                <a:lnTo>
                  <a:pt x="0" y="1003300"/>
                </a:lnTo>
                <a:lnTo>
                  <a:pt x="0" y="0"/>
                </a:lnTo>
                <a:lnTo>
                  <a:pt x="1333500" y="0"/>
                </a:lnTo>
                <a:lnTo>
                  <a:pt x="1333500" y="1003300"/>
                </a:lnTo>
                <a:close/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1"/>
          <p:cNvSpPr/>
          <p:nvPr/>
        </p:nvSpPr>
        <p:spPr>
          <a:xfrm>
            <a:off x="2703909" y="2324219"/>
            <a:ext cx="742950" cy="509175"/>
          </a:xfrm>
          <a:custGeom>
            <a:avLst/>
            <a:gdLst/>
            <a:ahLst/>
            <a:cxnLst/>
            <a:rect l="l" t="t" r="r" b="b"/>
            <a:pathLst>
              <a:path w="1320800" h="1003300" extrusionOk="0">
                <a:moveTo>
                  <a:pt x="1320800" y="1003300"/>
                </a:moveTo>
                <a:lnTo>
                  <a:pt x="0" y="1003300"/>
                </a:lnTo>
                <a:lnTo>
                  <a:pt x="0" y="0"/>
                </a:lnTo>
                <a:lnTo>
                  <a:pt x="1320800" y="0"/>
                </a:lnTo>
                <a:lnTo>
                  <a:pt x="1320800" y="1003300"/>
                </a:lnTo>
                <a:close/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1"/>
          <p:cNvSpPr/>
          <p:nvPr/>
        </p:nvSpPr>
        <p:spPr>
          <a:xfrm>
            <a:off x="2703909" y="1578412"/>
            <a:ext cx="742950" cy="515620"/>
          </a:xfrm>
          <a:custGeom>
            <a:avLst/>
            <a:gdLst/>
            <a:ahLst/>
            <a:cxnLst/>
            <a:rect l="l" t="t" r="r" b="b"/>
            <a:pathLst>
              <a:path w="1320800" h="1016000" extrusionOk="0">
                <a:moveTo>
                  <a:pt x="13208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1320800" y="0"/>
                </a:lnTo>
                <a:lnTo>
                  <a:pt x="1320800" y="1016000"/>
                </a:lnTo>
                <a:close/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1"/>
          <p:cNvSpPr/>
          <p:nvPr/>
        </p:nvSpPr>
        <p:spPr>
          <a:xfrm>
            <a:off x="1450181" y="2574965"/>
            <a:ext cx="250031" cy="0"/>
          </a:xfrm>
          <a:custGeom>
            <a:avLst/>
            <a:gdLst/>
            <a:ahLst/>
            <a:cxnLst/>
            <a:rect l="l" t="t" r="r" b="b"/>
            <a:pathLst>
              <a:path w="444500" h="120000" extrusionOk="0">
                <a:moveTo>
                  <a:pt x="0" y="0"/>
                </a:moveTo>
                <a:lnTo>
                  <a:pt x="44450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1"/>
          <p:cNvSpPr/>
          <p:nvPr/>
        </p:nvSpPr>
        <p:spPr>
          <a:xfrm>
            <a:off x="1432784" y="2557890"/>
            <a:ext cx="40200" cy="3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1"/>
          <p:cNvSpPr/>
          <p:nvPr/>
        </p:nvSpPr>
        <p:spPr>
          <a:xfrm>
            <a:off x="1676747" y="2557890"/>
            <a:ext cx="40200" cy="36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1"/>
          <p:cNvSpPr/>
          <p:nvPr/>
        </p:nvSpPr>
        <p:spPr>
          <a:xfrm>
            <a:off x="2428918" y="2557890"/>
            <a:ext cx="40200" cy="36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1"/>
          <p:cNvSpPr/>
          <p:nvPr/>
        </p:nvSpPr>
        <p:spPr>
          <a:xfrm>
            <a:off x="2677952" y="2557890"/>
            <a:ext cx="40200" cy="36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1"/>
          <p:cNvSpPr/>
          <p:nvPr/>
        </p:nvSpPr>
        <p:spPr>
          <a:xfrm>
            <a:off x="2450306" y="2574965"/>
            <a:ext cx="250031" cy="0"/>
          </a:xfrm>
          <a:custGeom>
            <a:avLst/>
            <a:gdLst/>
            <a:ahLst/>
            <a:cxnLst/>
            <a:rect l="l" t="t" r="r" b="b"/>
            <a:pathLst>
              <a:path w="444500" h="120000" extrusionOk="0">
                <a:moveTo>
                  <a:pt x="444500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1"/>
          <p:cNvSpPr/>
          <p:nvPr/>
        </p:nvSpPr>
        <p:spPr>
          <a:xfrm>
            <a:off x="3700463" y="2321004"/>
            <a:ext cx="750094" cy="515620"/>
          </a:xfrm>
          <a:custGeom>
            <a:avLst/>
            <a:gdLst/>
            <a:ahLst/>
            <a:cxnLst/>
            <a:rect l="l" t="t" r="r" b="b"/>
            <a:pathLst>
              <a:path w="1333500" h="1016000" extrusionOk="0">
                <a:moveTo>
                  <a:pt x="13335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1333500" y="0"/>
                </a:lnTo>
                <a:lnTo>
                  <a:pt x="1333500" y="1016000"/>
                </a:lnTo>
                <a:close/>
              </a:path>
            </a:pathLst>
          </a:custGeom>
          <a:solidFill>
            <a:srgbClr val="7B869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1"/>
          <p:cNvSpPr/>
          <p:nvPr/>
        </p:nvSpPr>
        <p:spPr>
          <a:xfrm>
            <a:off x="3430592" y="2557890"/>
            <a:ext cx="40200" cy="36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1"/>
          <p:cNvSpPr/>
          <p:nvPr/>
        </p:nvSpPr>
        <p:spPr>
          <a:xfrm>
            <a:off x="3679625" y="2557890"/>
            <a:ext cx="40200" cy="36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1"/>
          <p:cNvSpPr/>
          <p:nvPr/>
        </p:nvSpPr>
        <p:spPr>
          <a:xfrm>
            <a:off x="4050410" y="2303873"/>
            <a:ext cx="40200" cy="360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1"/>
          <p:cNvSpPr/>
          <p:nvPr/>
        </p:nvSpPr>
        <p:spPr>
          <a:xfrm>
            <a:off x="3450431" y="2574965"/>
            <a:ext cx="250031" cy="0"/>
          </a:xfrm>
          <a:custGeom>
            <a:avLst/>
            <a:gdLst/>
            <a:ahLst/>
            <a:cxnLst/>
            <a:rect l="l" t="t" r="r" b="b"/>
            <a:pathLst>
              <a:path w="444500" h="120000" extrusionOk="0">
                <a:moveTo>
                  <a:pt x="444500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1"/>
          <p:cNvSpPr/>
          <p:nvPr/>
        </p:nvSpPr>
        <p:spPr>
          <a:xfrm>
            <a:off x="4697016" y="2324219"/>
            <a:ext cx="742950" cy="515620"/>
          </a:xfrm>
          <a:custGeom>
            <a:avLst/>
            <a:gdLst/>
            <a:ahLst/>
            <a:cxnLst/>
            <a:rect l="l" t="t" r="r" b="b"/>
            <a:pathLst>
              <a:path w="1320800" h="1016000" extrusionOk="0">
                <a:moveTo>
                  <a:pt x="13208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1320800" y="0"/>
                </a:lnTo>
                <a:lnTo>
                  <a:pt x="1320800" y="1016000"/>
                </a:lnTo>
                <a:close/>
              </a:path>
            </a:pathLst>
          </a:custGeom>
          <a:noFill/>
          <a:ln w="38100" cap="flat" cmpd="sng">
            <a:solidFill>
              <a:srgbClr val="95CE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1"/>
          <p:cNvSpPr/>
          <p:nvPr/>
        </p:nvSpPr>
        <p:spPr>
          <a:xfrm>
            <a:off x="4693444" y="3060383"/>
            <a:ext cx="757238" cy="515620"/>
          </a:xfrm>
          <a:custGeom>
            <a:avLst/>
            <a:gdLst/>
            <a:ahLst/>
            <a:cxnLst/>
            <a:rect l="l" t="t" r="r" b="b"/>
            <a:pathLst>
              <a:path w="1346200" h="1016000" extrusionOk="0">
                <a:moveTo>
                  <a:pt x="13462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1346200" y="0"/>
                </a:lnTo>
                <a:lnTo>
                  <a:pt x="1346200" y="1016000"/>
                </a:lnTo>
                <a:close/>
              </a:path>
            </a:pathLst>
          </a:custGeom>
          <a:solidFill>
            <a:srgbClr val="B5B7B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1"/>
          <p:cNvSpPr/>
          <p:nvPr/>
        </p:nvSpPr>
        <p:spPr>
          <a:xfrm>
            <a:off x="4426733" y="2557890"/>
            <a:ext cx="40200" cy="3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1"/>
          <p:cNvSpPr/>
          <p:nvPr/>
        </p:nvSpPr>
        <p:spPr>
          <a:xfrm>
            <a:off x="4675767" y="2557890"/>
            <a:ext cx="40200" cy="36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1"/>
          <p:cNvSpPr/>
          <p:nvPr/>
        </p:nvSpPr>
        <p:spPr>
          <a:xfrm>
            <a:off x="4450556" y="2574965"/>
            <a:ext cx="242888" cy="0"/>
          </a:xfrm>
          <a:custGeom>
            <a:avLst/>
            <a:gdLst/>
            <a:ahLst/>
            <a:cxnLst/>
            <a:rect l="l" t="t" r="r" b="b"/>
            <a:pathLst>
              <a:path w="431800" h="120000" extrusionOk="0">
                <a:moveTo>
                  <a:pt x="431800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1"/>
          <p:cNvSpPr/>
          <p:nvPr/>
        </p:nvSpPr>
        <p:spPr>
          <a:xfrm>
            <a:off x="5700713" y="2321004"/>
            <a:ext cx="750094" cy="515620"/>
          </a:xfrm>
          <a:custGeom>
            <a:avLst/>
            <a:gdLst/>
            <a:ahLst/>
            <a:cxnLst/>
            <a:rect l="l" t="t" r="r" b="b"/>
            <a:pathLst>
              <a:path w="1333500" h="1016000" extrusionOk="0">
                <a:moveTo>
                  <a:pt x="13335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1333500" y="0"/>
                </a:lnTo>
                <a:lnTo>
                  <a:pt x="1333500" y="1016000"/>
                </a:lnTo>
                <a:close/>
              </a:path>
            </a:pathLst>
          </a:custGeom>
          <a:solidFill>
            <a:srgbClr val="7B869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1"/>
          <p:cNvSpPr/>
          <p:nvPr/>
        </p:nvSpPr>
        <p:spPr>
          <a:xfrm>
            <a:off x="5433939" y="2557890"/>
            <a:ext cx="40200" cy="36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1"/>
          <p:cNvSpPr/>
          <p:nvPr/>
        </p:nvSpPr>
        <p:spPr>
          <a:xfrm>
            <a:off x="5682973" y="2557890"/>
            <a:ext cx="40200" cy="36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1"/>
          <p:cNvSpPr/>
          <p:nvPr/>
        </p:nvSpPr>
        <p:spPr>
          <a:xfrm>
            <a:off x="5457825" y="2574965"/>
            <a:ext cx="242888" cy="0"/>
          </a:xfrm>
          <a:custGeom>
            <a:avLst/>
            <a:gdLst/>
            <a:ahLst/>
            <a:cxnLst/>
            <a:rect l="l" t="t" r="r" b="b"/>
            <a:pathLst>
              <a:path w="431800" h="120000" extrusionOk="0">
                <a:moveTo>
                  <a:pt x="431800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1"/>
          <p:cNvSpPr/>
          <p:nvPr/>
        </p:nvSpPr>
        <p:spPr>
          <a:xfrm>
            <a:off x="6697266" y="2324219"/>
            <a:ext cx="750094" cy="515620"/>
          </a:xfrm>
          <a:custGeom>
            <a:avLst/>
            <a:gdLst/>
            <a:ahLst/>
            <a:cxnLst/>
            <a:rect l="l" t="t" r="r" b="b"/>
            <a:pathLst>
              <a:path w="1333500" h="1016000" extrusionOk="0">
                <a:moveTo>
                  <a:pt x="13335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1333500" y="0"/>
                </a:lnTo>
                <a:lnTo>
                  <a:pt x="1333500" y="1016000"/>
                </a:lnTo>
                <a:close/>
              </a:path>
            </a:pathLst>
          </a:custGeom>
          <a:noFill/>
          <a:ln w="38100" cap="flat" cmpd="sng">
            <a:solidFill>
              <a:srgbClr val="95CE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1"/>
          <p:cNvSpPr/>
          <p:nvPr/>
        </p:nvSpPr>
        <p:spPr>
          <a:xfrm>
            <a:off x="6430073" y="2557890"/>
            <a:ext cx="40200" cy="36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1"/>
          <p:cNvSpPr/>
          <p:nvPr/>
        </p:nvSpPr>
        <p:spPr>
          <a:xfrm>
            <a:off x="6679115" y="2557890"/>
            <a:ext cx="40200" cy="360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1"/>
          <p:cNvSpPr/>
          <p:nvPr/>
        </p:nvSpPr>
        <p:spPr>
          <a:xfrm>
            <a:off x="6450806" y="2574965"/>
            <a:ext cx="250031" cy="0"/>
          </a:xfrm>
          <a:custGeom>
            <a:avLst/>
            <a:gdLst/>
            <a:ahLst/>
            <a:cxnLst/>
            <a:rect l="l" t="t" r="r" b="b"/>
            <a:pathLst>
              <a:path w="444500" h="120000" extrusionOk="0">
                <a:moveTo>
                  <a:pt x="444500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1"/>
          <p:cNvSpPr/>
          <p:nvPr/>
        </p:nvSpPr>
        <p:spPr>
          <a:xfrm>
            <a:off x="7690247" y="2324219"/>
            <a:ext cx="750094" cy="515620"/>
          </a:xfrm>
          <a:custGeom>
            <a:avLst/>
            <a:gdLst/>
            <a:ahLst/>
            <a:cxnLst/>
            <a:rect l="l" t="t" r="r" b="b"/>
            <a:pathLst>
              <a:path w="1333500" h="1016000" extrusionOk="0">
                <a:moveTo>
                  <a:pt x="13335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1333500" y="0"/>
                </a:lnTo>
                <a:lnTo>
                  <a:pt x="1333500" y="1016000"/>
                </a:lnTo>
                <a:close/>
              </a:path>
            </a:pathLst>
          </a:custGeom>
          <a:noFill/>
          <a:ln w="38100" cap="flat" cmpd="sng">
            <a:solidFill>
              <a:srgbClr val="95CE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1"/>
          <p:cNvSpPr/>
          <p:nvPr/>
        </p:nvSpPr>
        <p:spPr>
          <a:xfrm>
            <a:off x="7426216" y="2557890"/>
            <a:ext cx="40200" cy="36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1"/>
          <p:cNvSpPr/>
          <p:nvPr/>
        </p:nvSpPr>
        <p:spPr>
          <a:xfrm>
            <a:off x="7675249" y="2557890"/>
            <a:ext cx="40200" cy="36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1"/>
          <p:cNvSpPr/>
          <p:nvPr/>
        </p:nvSpPr>
        <p:spPr>
          <a:xfrm>
            <a:off x="7443788" y="2574965"/>
            <a:ext cx="250031" cy="0"/>
          </a:xfrm>
          <a:custGeom>
            <a:avLst/>
            <a:gdLst/>
            <a:ahLst/>
            <a:cxnLst/>
            <a:rect l="l" t="t" r="r" b="b"/>
            <a:pathLst>
              <a:path w="444500" h="120000" extrusionOk="0">
                <a:moveTo>
                  <a:pt x="444500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1"/>
          <p:cNvSpPr/>
          <p:nvPr/>
        </p:nvSpPr>
        <p:spPr>
          <a:xfrm>
            <a:off x="3430592" y="1815768"/>
            <a:ext cx="40200" cy="36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1"/>
          <p:cNvSpPr/>
          <p:nvPr/>
        </p:nvSpPr>
        <p:spPr>
          <a:xfrm>
            <a:off x="4050410" y="1815768"/>
            <a:ext cx="40200" cy="36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1"/>
          <p:cNvSpPr/>
          <p:nvPr/>
        </p:nvSpPr>
        <p:spPr>
          <a:xfrm>
            <a:off x="3450431" y="1835587"/>
            <a:ext cx="621506" cy="0"/>
          </a:xfrm>
          <a:custGeom>
            <a:avLst/>
            <a:gdLst/>
            <a:ahLst/>
            <a:cxnLst/>
            <a:rect l="l" t="t" r="r" b="b"/>
            <a:pathLst>
              <a:path w="1104900" h="120000" extrusionOk="0">
                <a:moveTo>
                  <a:pt x="1104900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1"/>
          <p:cNvSpPr/>
          <p:nvPr/>
        </p:nvSpPr>
        <p:spPr>
          <a:xfrm>
            <a:off x="4068366" y="1838801"/>
            <a:ext cx="0" cy="483394"/>
          </a:xfrm>
          <a:custGeom>
            <a:avLst/>
            <a:gdLst/>
            <a:ahLst/>
            <a:cxnLst/>
            <a:rect l="l" t="t" r="r" b="b"/>
            <a:pathLst>
              <a:path w="120000" h="952500" extrusionOk="0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1"/>
          <p:cNvSpPr/>
          <p:nvPr/>
        </p:nvSpPr>
        <p:spPr>
          <a:xfrm>
            <a:off x="6048232" y="2821877"/>
            <a:ext cx="40200" cy="360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1"/>
          <p:cNvSpPr/>
          <p:nvPr/>
        </p:nvSpPr>
        <p:spPr>
          <a:xfrm>
            <a:off x="5428414" y="3309983"/>
            <a:ext cx="40200" cy="3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1"/>
          <p:cNvSpPr/>
          <p:nvPr/>
        </p:nvSpPr>
        <p:spPr>
          <a:xfrm>
            <a:off x="6048232" y="3309983"/>
            <a:ext cx="40200" cy="360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/>
          <p:cNvSpPr/>
          <p:nvPr/>
        </p:nvSpPr>
        <p:spPr>
          <a:xfrm>
            <a:off x="5450681" y="3327202"/>
            <a:ext cx="621506" cy="0"/>
          </a:xfrm>
          <a:custGeom>
            <a:avLst/>
            <a:gdLst/>
            <a:ahLst/>
            <a:cxnLst/>
            <a:rect l="l" t="t" r="r" b="b"/>
            <a:pathLst>
              <a:path w="1104900" h="120000" extrusionOk="0">
                <a:moveTo>
                  <a:pt x="1104900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1"/>
          <p:cNvSpPr/>
          <p:nvPr/>
        </p:nvSpPr>
        <p:spPr>
          <a:xfrm>
            <a:off x="6068616" y="2835354"/>
            <a:ext cx="0" cy="489839"/>
          </a:xfrm>
          <a:custGeom>
            <a:avLst/>
            <a:gdLst/>
            <a:ahLst/>
            <a:cxnLst/>
            <a:rect l="l" t="t" r="r" b="b"/>
            <a:pathLst>
              <a:path w="120000" h="965200" extrusionOk="0">
                <a:moveTo>
                  <a:pt x="0" y="96520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1"/>
          <p:cNvSpPr/>
          <p:nvPr/>
        </p:nvSpPr>
        <p:spPr>
          <a:xfrm>
            <a:off x="988818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988818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1"/>
          <p:cNvSpPr/>
          <p:nvPr/>
        </p:nvSpPr>
        <p:spPr>
          <a:xfrm>
            <a:off x="1986132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1"/>
          <p:cNvSpPr/>
          <p:nvPr/>
        </p:nvSpPr>
        <p:spPr>
          <a:xfrm>
            <a:off x="1986132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1"/>
          <p:cNvSpPr/>
          <p:nvPr/>
        </p:nvSpPr>
        <p:spPr>
          <a:xfrm>
            <a:off x="2988506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2988506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4983130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4983130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95CE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6987882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1"/>
          <p:cNvSpPr/>
          <p:nvPr/>
        </p:nvSpPr>
        <p:spPr>
          <a:xfrm>
            <a:off x="6987882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95CE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1"/>
          <p:cNvSpPr/>
          <p:nvPr/>
        </p:nvSpPr>
        <p:spPr>
          <a:xfrm>
            <a:off x="7975069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1"/>
          <p:cNvSpPr/>
          <p:nvPr/>
        </p:nvSpPr>
        <p:spPr>
          <a:xfrm>
            <a:off x="7975069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95CE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1"/>
          <p:cNvSpPr/>
          <p:nvPr/>
        </p:nvSpPr>
        <p:spPr>
          <a:xfrm>
            <a:off x="4983130" y="2984115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B5B7B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1"/>
          <p:cNvSpPr/>
          <p:nvPr/>
        </p:nvSpPr>
        <p:spPr>
          <a:xfrm>
            <a:off x="4983130" y="2984115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1"/>
          <p:cNvSpPr/>
          <p:nvPr/>
        </p:nvSpPr>
        <p:spPr>
          <a:xfrm>
            <a:off x="3986213" y="2758202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7B869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3986213" y="2758202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1"/>
          <p:cNvSpPr/>
          <p:nvPr/>
        </p:nvSpPr>
        <p:spPr>
          <a:xfrm>
            <a:off x="5985900" y="2247901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7B869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1"/>
          <p:cNvSpPr/>
          <p:nvPr/>
        </p:nvSpPr>
        <p:spPr>
          <a:xfrm>
            <a:off x="5985900" y="2247901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2988506" y="1503337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/>
          <p:cNvSpPr/>
          <p:nvPr/>
        </p:nvSpPr>
        <p:spPr>
          <a:xfrm>
            <a:off x="2988506" y="1503337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1"/>
          <p:cNvSpPr/>
          <p:nvPr/>
        </p:nvSpPr>
        <p:spPr>
          <a:xfrm>
            <a:off x="788070" y="5017143"/>
            <a:ext cx="7578090" cy="126971"/>
          </a:xfrm>
          <a:custGeom>
            <a:avLst/>
            <a:gdLst/>
            <a:ahLst/>
            <a:cxnLst/>
            <a:rect l="l" t="t" r="r" b="b"/>
            <a:pathLst>
              <a:path w="13472160" h="250190" extrusionOk="0">
                <a:moveTo>
                  <a:pt x="0" y="249593"/>
                </a:moveTo>
                <a:lnTo>
                  <a:pt x="13471982" y="249593"/>
                </a:lnTo>
                <a:lnTo>
                  <a:pt x="13471982" y="0"/>
                </a:lnTo>
                <a:lnTo>
                  <a:pt x="0" y="0"/>
                </a:lnTo>
                <a:lnTo>
                  <a:pt x="0" y="249593"/>
                </a:lnTo>
                <a:close/>
              </a:path>
            </a:pathLst>
          </a:custGeom>
          <a:solidFill>
            <a:srgbClr val="95CED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1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1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1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>
            <a:spLocks noGrp="1"/>
          </p:cNvSpPr>
          <p:nvPr>
            <p:ph type="title"/>
          </p:nvPr>
        </p:nvSpPr>
        <p:spPr>
          <a:xfrm>
            <a:off x="443020" y="1072706"/>
            <a:ext cx="8247300" cy="6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2BB46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2"/>
          <p:cNvSpPr txBox="1">
            <a:spLocks noGrp="1"/>
          </p:cNvSpPr>
          <p:nvPr>
            <p:ph type="body" idx="1"/>
          </p:nvPr>
        </p:nvSpPr>
        <p:spPr>
          <a:xfrm>
            <a:off x="443020" y="1782952"/>
            <a:ext cx="8247300" cy="29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noAutofit/>
          </a:bodyPr>
          <a:lstStyle>
            <a:lvl1pPr marL="457200" lvl="0" indent="-22860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</a:defRPr>
            </a:lvl1pPr>
            <a:lvl2pPr lvl="1">
              <a:buNone/>
              <a:defRPr sz="1300">
                <a:solidFill>
                  <a:schemeClr val="dk1"/>
                </a:solidFill>
              </a:defRPr>
            </a:lvl2pPr>
            <a:lvl3pPr lvl="2">
              <a:buNone/>
              <a:defRPr sz="1300">
                <a:solidFill>
                  <a:schemeClr val="dk1"/>
                </a:solidFill>
              </a:defRPr>
            </a:lvl3pPr>
            <a:lvl4pPr lvl="3">
              <a:buNone/>
              <a:defRPr sz="1300">
                <a:solidFill>
                  <a:schemeClr val="dk1"/>
                </a:solidFill>
              </a:defRPr>
            </a:lvl4pPr>
            <a:lvl5pPr lvl="4">
              <a:buNone/>
              <a:defRPr sz="1300">
                <a:solidFill>
                  <a:schemeClr val="dk1"/>
                </a:solidFill>
              </a:defRPr>
            </a:lvl5pPr>
            <a:lvl6pPr lvl="5">
              <a:buNone/>
              <a:defRPr sz="1300">
                <a:solidFill>
                  <a:schemeClr val="dk1"/>
                </a:solidFill>
              </a:defRPr>
            </a:lvl6pPr>
            <a:lvl7pPr lvl="6">
              <a:buNone/>
              <a:defRPr sz="1300">
                <a:solidFill>
                  <a:schemeClr val="dk1"/>
                </a:solidFill>
              </a:defRPr>
            </a:lvl7pPr>
            <a:lvl8pPr lvl="7">
              <a:buNone/>
              <a:defRPr sz="1300">
                <a:solidFill>
                  <a:schemeClr val="dk1"/>
                </a:solidFill>
              </a:defRPr>
            </a:lvl8pPr>
            <a:lvl9pPr lvl="8">
              <a:buNone/>
              <a:defRPr sz="1300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hoto">
  <p:cSld name="Content with Photo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>
            <a:spLocks noGrp="1"/>
          </p:cNvSpPr>
          <p:nvPr>
            <p:ph type="title"/>
          </p:nvPr>
        </p:nvSpPr>
        <p:spPr>
          <a:xfrm>
            <a:off x="443020" y="1072706"/>
            <a:ext cx="5778600" cy="6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2BB46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3"/>
          <p:cNvSpPr txBox="1">
            <a:spLocks noGrp="1"/>
          </p:cNvSpPr>
          <p:nvPr>
            <p:ph type="body" idx="1"/>
          </p:nvPr>
        </p:nvSpPr>
        <p:spPr>
          <a:xfrm>
            <a:off x="443020" y="1782952"/>
            <a:ext cx="5778600" cy="29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noAutofit/>
          </a:bodyPr>
          <a:lstStyle>
            <a:lvl1pPr marL="457200" lvl="0" indent="-22860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3"/>
          <p:cNvSpPr>
            <a:spLocks noGrp="1"/>
          </p:cNvSpPr>
          <p:nvPr>
            <p:ph type="pic" idx="2"/>
          </p:nvPr>
        </p:nvSpPr>
        <p:spPr>
          <a:xfrm>
            <a:off x="6406464" y="1210961"/>
            <a:ext cx="2737500" cy="3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noAutofit/>
          </a:bodyPr>
          <a:lstStyle>
            <a:lvl1pPr marR="0" lvl="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Arial"/>
              <a:buChar char="•"/>
              <a:defRPr sz="12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9" name="Google Shape;169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</a:defRPr>
            </a:lvl1pPr>
            <a:lvl2pPr lvl="1">
              <a:buNone/>
              <a:defRPr sz="1300">
                <a:solidFill>
                  <a:schemeClr val="dk1"/>
                </a:solidFill>
              </a:defRPr>
            </a:lvl2pPr>
            <a:lvl3pPr lvl="2">
              <a:buNone/>
              <a:defRPr sz="1300">
                <a:solidFill>
                  <a:schemeClr val="dk1"/>
                </a:solidFill>
              </a:defRPr>
            </a:lvl3pPr>
            <a:lvl4pPr lvl="3">
              <a:buNone/>
              <a:defRPr sz="1300">
                <a:solidFill>
                  <a:schemeClr val="dk1"/>
                </a:solidFill>
              </a:defRPr>
            </a:lvl4pPr>
            <a:lvl5pPr lvl="4">
              <a:buNone/>
              <a:defRPr sz="1300">
                <a:solidFill>
                  <a:schemeClr val="dk1"/>
                </a:solidFill>
              </a:defRPr>
            </a:lvl5pPr>
            <a:lvl6pPr lvl="5">
              <a:buNone/>
              <a:defRPr sz="1300">
                <a:solidFill>
                  <a:schemeClr val="dk1"/>
                </a:solidFill>
              </a:defRPr>
            </a:lvl6pPr>
            <a:lvl7pPr lvl="6">
              <a:buNone/>
              <a:defRPr sz="1300">
                <a:solidFill>
                  <a:schemeClr val="dk1"/>
                </a:solidFill>
              </a:defRPr>
            </a:lvl7pPr>
            <a:lvl8pPr lvl="7">
              <a:buNone/>
              <a:defRPr sz="1300">
                <a:solidFill>
                  <a:schemeClr val="dk1"/>
                </a:solidFill>
              </a:defRPr>
            </a:lvl8pPr>
            <a:lvl9pPr lvl="8">
              <a:buNone/>
              <a:defRPr sz="1300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1213608" y="2625452"/>
            <a:ext cx="67167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3400" b="1" i="0" u="none" strike="noStrike" cap="none">
                <a:solidFill>
                  <a:srgbClr val="484E5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509056" y="1118711"/>
            <a:ext cx="8125800" cy="17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Relationship Id="rId14" Type="http://schemas.openxmlformats.org/officeDocument/2006/relationships/image" Target="../media/image32.png"/><Relationship Id="rId15" Type="http://schemas.openxmlformats.org/officeDocument/2006/relationships/image" Target="../media/image33.png"/><Relationship Id="rId16" Type="http://schemas.openxmlformats.org/officeDocument/2006/relationships/image" Target="../media/image34.png"/><Relationship Id="rId17" Type="http://schemas.openxmlformats.org/officeDocument/2006/relationships/image" Target="../media/image35.png"/><Relationship Id="rId18" Type="http://schemas.openxmlformats.org/officeDocument/2006/relationships/image" Target="../media/image11.png"/><Relationship Id="rId19" Type="http://schemas.openxmlformats.org/officeDocument/2006/relationships/image" Target="../media/image19.png"/><Relationship Id="rId20" Type="http://schemas.openxmlformats.org/officeDocument/2006/relationships/image" Target="../media/image3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4.png"/><Relationship Id="rId13" Type="http://schemas.openxmlformats.org/officeDocument/2006/relationships/image" Target="../media/image45.png"/><Relationship Id="rId14" Type="http://schemas.openxmlformats.org/officeDocument/2006/relationships/image" Target="../media/image46.png"/><Relationship Id="rId15" Type="http://schemas.openxmlformats.org/officeDocument/2006/relationships/image" Target="../media/image47.png"/><Relationship Id="rId16" Type="http://schemas.openxmlformats.org/officeDocument/2006/relationships/image" Target="../media/image48.png"/><Relationship Id="rId17" Type="http://schemas.openxmlformats.org/officeDocument/2006/relationships/image" Target="../media/image19.png"/><Relationship Id="rId18" Type="http://schemas.openxmlformats.org/officeDocument/2006/relationships/image" Target="../media/image36.png"/><Relationship Id="rId19" Type="http://schemas.openxmlformats.org/officeDocument/2006/relationships/image" Target="../media/image49.png"/><Relationship Id="rId20" Type="http://schemas.openxmlformats.org/officeDocument/2006/relationships/image" Target="../media/image5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4"/>
          <p:cNvPicPr preferRelativeResize="0"/>
          <p:nvPr/>
        </p:nvPicPr>
        <p:blipFill rotWithShape="1">
          <a:blip r:embed="rId4">
            <a:alphaModFix/>
          </a:blip>
          <a:srcRect t="7280" r="41901" b="7272"/>
          <a:stretch/>
        </p:blipFill>
        <p:spPr>
          <a:xfrm>
            <a:off x="5646750" y="0"/>
            <a:ext cx="349725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4"/>
          <p:cNvSpPr txBox="1"/>
          <p:nvPr/>
        </p:nvSpPr>
        <p:spPr>
          <a:xfrm>
            <a:off x="1795800" y="1154000"/>
            <a:ext cx="5552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rgbClr val="7B869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Emoji for the Medical Community</a:t>
            </a:r>
            <a:endParaRPr sz="4000" b="1">
              <a:solidFill>
                <a:srgbClr val="7B869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7" name="Google Shape;17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0551" y="3041400"/>
            <a:ext cx="1022387" cy="102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41063" y="3041400"/>
            <a:ext cx="1078371" cy="1022374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4"/>
          <p:cNvSpPr/>
          <p:nvPr/>
        </p:nvSpPr>
        <p:spPr>
          <a:xfrm>
            <a:off x="3088050" y="4344300"/>
            <a:ext cx="2967900" cy="499200"/>
          </a:xfrm>
          <a:prstGeom prst="roundRect">
            <a:avLst>
              <a:gd name="adj" fmla="val 50000"/>
            </a:avLst>
          </a:prstGeom>
          <a:solidFill>
            <a:srgbClr val="656F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</a:rPr>
              <a:t>Shuhan He, MD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80" name="Google Shape;180;p24"/>
          <p:cNvSpPr txBox="1"/>
          <p:nvPr/>
        </p:nvSpPr>
        <p:spPr>
          <a:xfrm>
            <a:off x="301375" y="3273600"/>
            <a:ext cx="26922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7B8698"/>
                </a:solidFill>
              </a:rPr>
              <a:t>Massachusetts General Hospital</a:t>
            </a:r>
            <a:endParaRPr sz="1000" b="1">
              <a:solidFill>
                <a:srgbClr val="7B869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7B8698"/>
                </a:solidFill>
              </a:rPr>
              <a:t>Lab of Computer Science</a:t>
            </a:r>
            <a:endParaRPr sz="1000" b="1">
              <a:solidFill>
                <a:srgbClr val="7B869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7B869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7B8698"/>
                </a:solidFill>
              </a:rPr>
              <a:t>Assistant Professor</a:t>
            </a:r>
            <a:endParaRPr sz="1000" b="1">
              <a:solidFill>
                <a:srgbClr val="7B869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7B8698"/>
                </a:solidFill>
              </a:rPr>
              <a:t>Harvard Medical School</a:t>
            </a:r>
            <a:endParaRPr sz="1000" b="1">
              <a:solidFill>
                <a:srgbClr val="7B869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7B8698"/>
                </a:solidFill>
              </a:rPr>
              <a:t>Department of Internal Medicine</a:t>
            </a:r>
            <a:endParaRPr sz="1000" b="1">
              <a:solidFill>
                <a:srgbClr val="7B869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7B8698"/>
                </a:solidFill>
              </a:rPr>
              <a:t>Department of Emergency medicine</a:t>
            </a:r>
            <a:endParaRPr sz="1000" b="1">
              <a:solidFill>
                <a:srgbClr val="7B869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7B8698"/>
              </a:solidFill>
            </a:endParaRPr>
          </a:p>
        </p:txBody>
      </p:sp>
      <p:pic>
        <p:nvPicPr>
          <p:cNvPr id="181" name="Google Shape;181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34698" y="321075"/>
            <a:ext cx="1430750" cy="387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37776" y="330391"/>
            <a:ext cx="1079750" cy="368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2248" y="330402"/>
            <a:ext cx="1430752" cy="292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578225" y="193443"/>
            <a:ext cx="1079749" cy="566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5"/>
          <p:cNvSpPr txBox="1"/>
          <p:nvPr/>
        </p:nvSpPr>
        <p:spPr>
          <a:xfrm>
            <a:off x="550725" y="347325"/>
            <a:ext cx="832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484E5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Emoji have significant medical importance</a:t>
            </a:r>
            <a:endParaRPr sz="3000" b="1">
              <a:solidFill>
                <a:srgbClr val="484E5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1" name="Google Shape;19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350" y="538702"/>
            <a:ext cx="154400" cy="26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5"/>
          <p:cNvSpPr/>
          <p:nvPr/>
        </p:nvSpPr>
        <p:spPr>
          <a:xfrm>
            <a:off x="166925" y="4742250"/>
            <a:ext cx="990300" cy="26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B8698"/>
                </a:solidFill>
              </a:rPr>
              <a:t>Shuhan He, MD</a:t>
            </a:r>
            <a:endParaRPr/>
          </a:p>
        </p:txBody>
      </p:sp>
      <p:sp>
        <p:nvSpPr>
          <p:cNvPr id="193" name="Google Shape;193;p25"/>
          <p:cNvSpPr txBox="1"/>
          <p:nvPr/>
        </p:nvSpPr>
        <p:spPr>
          <a:xfrm>
            <a:off x="8680675" y="4853850"/>
            <a:ext cx="242400" cy="1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888888"/>
                </a:solidFill>
              </a:rPr>
              <a:t>2</a:t>
            </a:fld>
            <a:endParaRPr sz="800">
              <a:solidFill>
                <a:srgbClr val="888888"/>
              </a:solidFill>
            </a:endParaRPr>
          </a:p>
        </p:txBody>
      </p:sp>
      <p:pic>
        <p:nvPicPr>
          <p:cNvPr id="194" name="Google Shape;19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8700" y="1785725"/>
            <a:ext cx="5974950" cy="2574150"/>
          </a:xfrm>
          <a:prstGeom prst="rect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5" name="Google Shape;195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87925" y="235825"/>
            <a:ext cx="858925" cy="15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5"/>
          <p:cNvSpPr/>
          <p:nvPr/>
        </p:nvSpPr>
        <p:spPr>
          <a:xfrm>
            <a:off x="6318900" y="1053875"/>
            <a:ext cx="1653900" cy="1653900"/>
          </a:xfrm>
          <a:prstGeom prst="roundRect">
            <a:avLst>
              <a:gd name="adj" fmla="val 50000"/>
            </a:avLst>
          </a:prstGeom>
          <a:solidFill>
            <a:srgbClr val="B7BDC6"/>
          </a:solidFill>
          <a:ln>
            <a:noFill/>
          </a:ln>
          <a:effectLst>
            <a:outerShdw blurRad="57150" dist="28575" dir="10380000" algn="bl" rotWithShape="0">
              <a:srgbClr val="000000">
                <a:alpha val="109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484E56"/>
              </a:solidFill>
            </a:endParaRPr>
          </a:p>
        </p:txBody>
      </p:sp>
      <p:pic>
        <p:nvPicPr>
          <p:cNvPr id="197" name="Google Shape;197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17071" y="1695338"/>
            <a:ext cx="1257576" cy="370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6"/>
          <p:cNvSpPr txBox="1"/>
          <p:nvPr/>
        </p:nvSpPr>
        <p:spPr>
          <a:xfrm>
            <a:off x="550725" y="347325"/>
            <a:ext cx="1480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484E5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2019</a:t>
            </a:r>
            <a:endParaRPr sz="3000" b="1">
              <a:solidFill>
                <a:srgbClr val="484E5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04" name="Google Shape;20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350" y="538702"/>
            <a:ext cx="154400" cy="26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87925" y="235825"/>
            <a:ext cx="858925" cy="15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6"/>
          <p:cNvSpPr/>
          <p:nvPr/>
        </p:nvSpPr>
        <p:spPr>
          <a:xfrm>
            <a:off x="166925" y="4742250"/>
            <a:ext cx="990300" cy="26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B8698"/>
                </a:solidFill>
              </a:rPr>
              <a:t>Shuhan He, MD</a:t>
            </a:r>
            <a:endParaRPr/>
          </a:p>
        </p:txBody>
      </p:sp>
      <p:sp>
        <p:nvSpPr>
          <p:cNvPr id="207" name="Google Shape;207;p26"/>
          <p:cNvSpPr txBox="1">
            <a:spLocks noGrp="1"/>
          </p:cNvSpPr>
          <p:nvPr>
            <p:ph type="sldNum" idx="12"/>
          </p:nvPr>
        </p:nvSpPr>
        <p:spPr>
          <a:xfrm>
            <a:off x="8680675" y="4853850"/>
            <a:ext cx="242400" cy="15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800">
                <a:latin typeface="Arial"/>
                <a:ea typeface="Arial"/>
                <a:cs typeface="Arial"/>
                <a:sym typeface="Arial"/>
              </a:rPr>
              <a:t>0</a:t>
            </a:r>
            <a:fld id="{00000000-1234-1234-1234-123412341234}" type="slidenum">
              <a:rPr lang="en" sz="800">
                <a:latin typeface="Arial"/>
                <a:ea typeface="Arial"/>
                <a:cs typeface="Arial"/>
                <a:sym typeface="Arial"/>
              </a:rPr>
              <a:t>3</a:t>
            </a:fld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17313" y="691600"/>
            <a:ext cx="5449800" cy="4242673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/>
          <p:nvPr/>
        </p:nvSpPr>
        <p:spPr>
          <a:xfrm>
            <a:off x="6458974" y="1920588"/>
            <a:ext cx="1784700" cy="1784700"/>
          </a:xfrm>
          <a:prstGeom prst="roundRect">
            <a:avLst>
              <a:gd name="adj" fmla="val 50000"/>
            </a:avLst>
          </a:prstGeom>
          <a:solidFill>
            <a:srgbClr val="B7BDC6"/>
          </a:solidFill>
          <a:ln>
            <a:noFill/>
          </a:ln>
          <a:effectLst>
            <a:outerShdw blurRad="57150" dist="28575" dir="10380000" algn="bl" rotWithShape="0">
              <a:srgbClr val="000000">
                <a:alpha val="109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484E56"/>
              </a:solidFill>
            </a:endParaRPr>
          </a:p>
        </p:txBody>
      </p:sp>
      <p:pic>
        <p:nvPicPr>
          <p:cNvPr id="210" name="Google Shape;210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14725" y="2228324"/>
            <a:ext cx="1273199" cy="1169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350" y="538702"/>
            <a:ext cx="154400" cy="26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7"/>
          <p:cNvSpPr/>
          <p:nvPr/>
        </p:nvSpPr>
        <p:spPr>
          <a:xfrm>
            <a:off x="166925" y="4742250"/>
            <a:ext cx="990300" cy="26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B8698"/>
                </a:solidFill>
              </a:rPr>
              <a:t>Shuhan He, MD</a:t>
            </a:r>
            <a:endParaRPr/>
          </a:p>
        </p:txBody>
      </p:sp>
      <p:sp>
        <p:nvSpPr>
          <p:cNvPr id="218" name="Google Shape;218;p27"/>
          <p:cNvSpPr txBox="1"/>
          <p:nvPr/>
        </p:nvSpPr>
        <p:spPr>
          <a:xfrm>
            <a:off x="8680675" y="4853850"/>
            <a:ext cx="242400" cy="1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888888"/>
                </a:solidFill>
              </a:rPr>
              <a:t>4</a:t>
            </a:fld>
            <a:endParaRPr sz="800">
              <a:solidFill>
                <a:srgbClr val="888888"/>
              </a:solidFill>
            </a:endParaRPr>
          </a:p>
        </p:txBody>
      </p:sp>
      <p:sp>
        <p:nvSpPr>
          <p:cNvPr id="219" name="Google Shape;219;p27"/>
          <p:cNvSpPr txBox="1"/>
          <p:nvPr/>
        </p:nvSpPr>
        <p:spPr>
          <a:xfrm>
            <a:off x="1524000" y="1166150"/>
            <a:ext cx="8958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💉</a:t>
            </a:r>
            <a:endParaRPr sz="6000"/>
          </a:p>
        </p:txBody>
      </p:sp>
      <p:pic>
        <p:nvPicPr>
          <p:cNvPr id="220" name="Google Shape;220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02342" y="1442683"/>
            <a:ext cx="585959" cy="585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60863" y="1364143"/>
            <a:ext cx="518261" cy="700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09270" y="1364144"/>
            <a:ext cx="518255" cy="68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54432" y="1418939"/>
            <a:ext cx="585959" cy="578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647290" y="2581814"/>
            <a:ext cx="585959" cy="633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131041" y="2523010"/>
            <a:ext cx="328612" cy="75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486425" y="2587836"/>
            <a:ext cx="467186" cy="633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851697" y="2581811"/>
            <a:ext cx="633452" cy="633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257399" y="2587207"/>
            <a:ext cx="380076" cy="622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875442" y="3697395"/>
            <a:ext cx="585959" cy="617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7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154453" y="3701459"/>
            <a:ext cx="585959" cy="609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7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623547" y="3699711"/>
            <a:ext cx="633454" cy="649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7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041112" y="3731573"/>
            <a:ext cx="418542" cy="585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7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403292" y="3705724"/>
            <a:ext cx="633453" cy="600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7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7987925" y="235825"/>
            <a:ext cx="858925" cy="15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7"/>
          <p:cNvSpPr txBox="1"/>
          <p:nvPr/>
        </p:nvSpPr>
        <p:spPr>
          <a:xfrm>
            <a:off x="550725" y="347325"/>
            <a:ext cx="3259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484E5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Existing Emoji</a:t>
            </a:r>
            <a:endParaRPr sz="3000" b="1">
              <a:solidFill>
                <a:srgbClr val="484E5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6" name="Google Shape;236;p27"/>
          <p:cNvSpPr/>
          <p:nvPr/>
        </p:nvSpPr>
        <p:spPr>
          <a:xfrm>
            <a:off x="5213900" y="298300"/>
            <a:ext cx="1572600" cy="64980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484E56"/>
              </a:solidFill>
            </a:endParaRPr>
          </a:p>
        </p:txBody>
      </p:sp>
      <p:pic>
        <p:nvPicPr>
          <p:cNvPr id="237" name="Google Shape;237;p27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5410625" y="409712"/>
            <a:ext cx="1179151" cy="42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350" y="538702"/>
            <a:ext cx="154400" cy="26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8"/>
          <p:cNvSpPr/>
          <p:nvPr/>
        </p:nvSpPr>
        <p:spPr>
          <a:xfrm>
            <a:off x="166925" y="4742250"/>
            <a:ext cx="990300" cy="26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B8698"/>
                </a:solidFill>
              </a:rPr>
              <a:t>Shuhan He, MD</a:t>
            </a:r>
            <a:endParaRPr/>
          </a:p>
        </p:txBody>
      </p:sp>
      <p:sp>
        <p:nvSpPr>
          <p:cNvPr id="245" name="Google Shape;245;p28"/>
          <p:cNvSpPr txBox="1"/>
          <p:nvPr/>
        </p:nvSpPr>
        <p:spPr>
          <a:xfrm>
            <a:off x="8680675" y="4853850"/>
            <a:ext cx="242400" cy="1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888888"/>
                </a:solidFill>
              </a:rPr>
              <a:t>5</a:t>
            </a:fld>
            <a:endParaRPr sz="800">
              <a:solidFill>
                <a:srgbClr val="888888"/>
              </a:solidFill>
            </a:endParaRPr>
          </a:p>
        </p:txBody>
      </p:sp>
      <p:pic>
        <p:nvPicPr>
          <p:cNvPr id="246" name="Google Shape;246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2925" y="1395275"/>
            <a:ext cx="713111" cy="773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8"/>
          <p:cNvPicPr preferRelativeResize="0"/>
          <p:nvPr/>
        </p:nvPicPr>
        <p:blipFill rotWithShape="1">
          <a:blip r:embed="rId6">
            <a:alphaModFix/>
          </a:blip>
          <a:srcRect l="25176" t="11179" r="19831" b="15080"/>
          <a:stretch/>
        </p:blipFill>
        <p:spPr>
          <a:xfrm>
            <a:off x="3149863" y="1367990"/>
            <a:ext cx="467176" cy="735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29768" y="1358125"/>
            <a:ext cx="780457" cy="7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29525" y="1349025"/>
            <a:ext cx="277809" cy="77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090489" y="2585063"/>
            <a:ext cx="585949" cy="664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500776" y="2523237"/>
            <a:ext cx="526576" cy="821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908788" y="2523226"/>
            <a:ext cx="467175" cy="882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130700" y="2646375"/>
            <a:ext cx="633449" cy="63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623550" y="3754225"/>
            <a:ext cx="633450" cy="6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8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843650" y="3777869"/>
            <a:ext cx="894452" cy="586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8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324750" y="3806775"/>
            <a:ext cx="823817" cy="52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8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811875" y="3736685"/>
            <a:ext cx="713100" cy="668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8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7987925" y="235825"/>
            <a:ext cx="858925" cy="15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8"/>
          <p:cNvSpPr/>
          <p:nvPr/>
        </p:nvSpPr>
        <p:spPr>
          <a:xfrm>
            <a:off x="5213900" y="298300"/>
            <a:ext cx="1572600" cy="64980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484E56"/>
              </a:solidFill>
            </a:endParaRPr>
          </a:p>
        </p:txBody>
      </p:sp>
      <p:pic>
        <p:nvPicPr>
          <p:cNvPr id="260" name="Google Shape;260;p28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410625" y="409712"/>
            <a:ext cx="1179151" cy="4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8"/>
          <p:cNvSpPr txBox="1"/>
          <p:nvPr/>
        </p:nvSpPr>
        <p:spPr>
          <a:xfrm>
            <a:off x="550725" y="347325"/>
            <a:ext cx="4516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484E5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Our New Candidates</a:t>
            </a:r>
            <a:endParaRPr sz="3000" b="1">
              <a:solidFill>
                <a:srgbClr val="484E5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62" name="Google Shape;262;p28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6893021" y="1311014"/>
            <a:ext cx="1051350" cy="794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8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550049" y="2631138"/>
            <a:ext cx="780451" cy="572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39496"/>
            <a:ext cx="155448" cy="2651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856" y="237744"/>
            <a:ext cx="859536" cy="1554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47472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484E56"/>
                </a:solidFill>
                <a:latin typeface="Century Gothic"/>
              </a:rPr>
              <a:t>Every resubmission reset the clock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745736"/>
            <a:ext cx="14630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56F7F"/>
                </a:solidFill>
                <a:latin typeface="Calibri"/>
              </a:rPr>
              <a:t>Shuhan He, 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87552"/>
            <a:ext cx="791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56F7F"/>
                </a:solidFill>
                <a:latin typeface="Calibri"/>
              </a:rPr>
              <a:t>Unicode bars a declined emoji from re-review for </a:t>
            </a:r>
            <a:r>
              <a:rPr sz="1050" b="1" i="0">
                <a:solidFill>
                  <a:srgbClr val="484E56"/>
                </a:solidFill>
                <a:latin typeface="Calibri"/>
              </a:rPr>
              <a:t>four years</a:t>
            </a:r>
            <a:r>
              <a:rPr sz="1050" b="0" i="0">
                <a:solidFill>
                  <a:srgbClr val="656F7F"/>
                </a:solidFill>
                <a:latin typeface="Calibri"/>
              </a:rPr>
              <a:t>, counted from the decline.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1883664"/>
            <a:ext cx="7498079" cy="1828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26947" y="1833372"/>
            <a:ext cx="118872" cy="118872"/>
          </a:xfrm>
          <a:prstGeom prst="ellipse">
            <a:avLst/>
          </a:prstGeom>
          <a:solidFill>
            <a:srgbClr val="656F7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6304" y="146304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656F7F"/>
                </a:solidFill>
                <a:latin typeface="Century Gothic"/>
              </a:rPr>
              <a:t>2019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" y="2066544"/>
            <a:ext cx="1280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Heart + lungs</a:t>
            </a:r>
          </a:p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submitted</a:t>
            </a:r>
          </a:p>
        </p:txBody>
      </p:sp>
      <p:sp>
        <p:nvSpPr>
          <p:cNvPr id="12" name="Oval 11"/>
          <p:cNvSpPr/>
          <p:nvPr/>
        </p:nvSpPr>
        <p:spPr>
          <a:xfrm>
            <a:off x="2226564" y="1833372"/>
            <a:ext cx="118872" cy="118872"/>
          </a:xfrm>
          <a:prstGeom prst="ellipse">
            <a:avLst/>
          </a:prstGeom>
          <a:solidFill>
            <a:srgbClr val="1E7A5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45920" y="146304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E7A50"/>
                </a:solidFill>
                <a:latin typeface="Century Gothic"/>
              </a:rPr>
              <a:t>2020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066544"/>
            <a:ext cx="1280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Both ship in</a:t>
            </a:r>
          </a:p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Emoji 13.0</a:t>
            </a:r>
          </a:p>
        </p:txBody>
      </p:sp>
      <p:sp>
        <p:nvSpPr>
          <p:cNvPr id="15" name="Oval 14"/>
          <p:cNvSpPr/>
          <p:nvPr/>
        </p:nvSpPr>
        <p:spPr>
          <a:xfrm>
            <a:off x="3726179" y="1833372"/>
            <a:ext cx="118872" cy="118872"/>
          </a:xfrm>
          <a:prstGeom prst="ellipse">
            <a:avLst/>
          </a:prstGeom>
          <a:solidFill>
            <a:srgbClr val="A3302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45535" y="146304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A3302B"/>
                </a:solidFill>
                <a:latin typeface="Century Gothic"/>
              </a:rPr>
              <a:t>2021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5535" y="2066544"/>
            <a:ext cx="1280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First wave declined;</a:t>
            </a:r>
          </a:p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JAMA makes the case</a:t>
            </a:r>
          </a:p>
        </p:txBody>
      </p:sp>
      <p:sp>
        <p:nvSpPr>
          <p:cNvPr id="18" name="Oval 17"/>
          <p:cNvSpPr/>
          <p:nvPr/>
        </p:nvSpPr>
        <p:spPr>
          <a:xfrm>
            <a:off x="5225796" y="1833372"/>
            <a:ext cx="118872" cy="118872"/>
          </a:xfrm>
          <a:prstGeom prst="ellipse">
            <a:avLst/>
          </a:prstGeom>
          <a:solidFill>
            <a:srgbClr val="8A5E0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45152" y="146304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8A5E0F"/>
                </a:solidFill>
                <a:latin typeface="Century Gothic"/>
              </a:rPr>
              <a:t>2022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2066544"/>
            <a:ext cx="1280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Kidney, stomach,</a:t>
            </a:r>
          </a:p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liver declined</a:t>
            </a:r>
          </a:p>
        </p:txBody>
      </p:sp>
      <p:sp>
        <p:nvSpPr>
          <p:cNvPr id="21" name="Oval 20"/>
          <p:cNvSpPr/>
          <p:nvPr/>
        </p:nvSpPr>
        <p:spPr>
          <a:xfrm>
            <a:off x="6725412" y="1833372"/>
            <a:ext cx="118872" cy="118872"/>
          </a:xfrm>
          <a:prstGeom prst="ellipse">
            <a:avLst/>
          </a:prstGeom>
          <a:solidFill>
            <a:srgbClr val="A3302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44768" y="146304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A3302B"/>
                </a:solidFill>
                <a:latin typeface="Century Gothic"/>
              </a:rPr>
              <a:t>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2066544"/>
            <a:ext cx="1280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Spine, intestines,</a:t>
            </a:r>
          </a:p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ECG declined</a:t>
            </a:r>
          </a:p>
        </p:txBody>
      </p:sp>
      <p:sp>
        <p:nvSpPr>
          <p:cNvPr id="24" name="Oval 23"/>
          <p:cNvSpPr/>
          <p:nvPr/>
        </p:nvSpPr>
        <p:spPr>
          <a:xfrm>
            <a:off x="8206739" y="1815084"/>
            <a:ext cx="155448" cy="155448"/>
          </a:xfrm>
          <a:prstGeom prst="ellipse">
            <a:avLst/>
          </a:prstGeom>
          <a:solidFill>
            <a:srgbClr val="2F5D8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44383" y="146304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2F5D8C"/>
                </a:solidFill>
                <a:latin typeface="Century Gothic"/>
              </a:rPr>
              <a:t>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44383" y="2066544"/>
            <a:ext cx="1280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Window shuts</a:t>
            </a:r>
          </a:p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July 31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2798064"/>
            <a:ext cx="2542032" cy="1444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8368" y="2810865"/>
            <a:ext cx="2359151" cy="45720"/>
          </a:xfrm>
          <a:prstGeom prst="rect">
            <a:avLst/>
          </a:prstGeom>
          <a:solidFill>
            <a:srgbClr val="1E7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4944" y="294436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7A50"/>
                </a:solidFill>
                <a:latin typeface="Century Gothic"/>
              </a:rPr>
              <a:t>Clear to file now</a:t>
            </a:r>
            <a:r>
              <a:rPr sz="850" b="0" i="0">
                <a:solidFill>
                  <a:srgbClr val="B7BDC6"/>
                </a:solidFill>
                <a:latin typeface="Calibri"/>
              </a:rPr>
              <a:t>   8 concepts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" y="3200400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484E56"/>
                </a:solidFill>
                <a:latin typeface="Calibri"/>
              </a:rPr>
              <a:t>White blood cell · Pill pack · Pill box</a:t>
            </a:r>
          </a:p>
          <a:p>
            <a:r>
              <a:rPr sz="880" b="1" i="0">
                <a:solidFill>
                  <a:srgbClr val="484E56"/>
                </a:solidFill>
                <a:latin typeface="Calibri"/>
              </a:rPr>
              <a:t>Blood bag · Leg cast · IV bag</a:t>
            </a:r>
          </a:p>
          <a:p>
            <a:r>
              <a:rPr sz="880" b="1" i="0">
                <a:solidFill>
                  <a:srgbClr val="484E56"/>
                </a:solidFill>
                <a:latin typeface="Calibri"/>
              </a:rPr>
              <a:t>CT scan · Weight 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3675887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40" b="0" i="0">
                <a:solidFill>
                  <a:srgbClr val="656F7F"/>
                </a:solidFill>
                <a:latin typeface="Calibri"/>
              </a:rPr>
              <a:t>Last declined in the 2021 cycle. The four-year bar has lapsed.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55264" y="2798064"/>
            <a:ext cx="2542032" cy="1444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346704" y="2810865"/>
            <a:ext cx="2359151" cy="45720"/>
          </a:xfrm>
          <a:prstGeom prst="rect">
            <a:avLst/>
          </a:prstGeom>
          <a:solidFill>
            <a:srgbClr val="8A5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383280" y="2944368"/>
            <a:ext cx="22860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50" b="1" i="0" dirty="0">
                <a:solidFill>
                  <a:srgbClr val="8A5E0F"/>
                </a:solidFill>
                <a:latin typeface="Century Gothic"/>
              </a:rPr>
              <a:t>Unclear</a:t>
            </a:r>
            <a:r>
              <a:rPr sz="850" b="0" i="0" dirty="0">
                <a:solidFill>
                  <a:srgbClr val="B7BDC6"/>
                </a:solidFill>
                <a:latin typeface="Calibri"/>
              </a:rPr>
              <a:t>   3 concepts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3200400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484E56"/>
                </a:solidFill>
                <a:latin typeface="Calibri"/>
              </a:rPr>
              <a:t>Kidney · Stomach · Liver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3675887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40" b="0" i="0" dirty="0">
                <a:solidFill>
                  <a:srgbClr val="656F7F"/>
                </a:solidFill>
                <a:latin typeface="Calibri"/>
              </a:rPr>
              <a:t>Submitted July 2022, declined that November. From the decline, the bar lifts Nov 2026 — after the window shuts. From submission, they clear by 12, 3 and 1 day.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0" y="2798064"/>
            <a:ext cx="2542032" cy="1444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035040" y="2810865"/>
            <a:ext cx="2359151" cy="45720"/>
          </a:xfrm>
          <a:prstGeom prst="rect">
            <a:avLst/>
          </a:prstGeom>
          <a:solidFill>
            <a:srgbClr val="A3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071616" y="294436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3302B"/>
                </a:solidFill>
                <a:latin typeface="Century Gothic"/>
              </a:rPr>
              <a:t>Barred</a:t>
            </a:r>
            <a:r>
              <a:rPr sz="850" b="0" i="0">
                <a:solidFill>
                  <a:srgbClr val="B7BDC6"/>
                </a:solidFill>
                <a:latin typeface="Calibri"/>
              </a:rPr>
              <a:t>   3 concepts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71616" y="3200400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484E56"/>
                </a:solidFill>
                <a:latin typeface="Calibri"/>
              </a:rPr>
              <a:t>Spine · Intestines · ECG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71616" y="3675887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40" b="0" i="0">
                <a:solidFill>
                  <a:srgbClr val="656F7F"/>
                </a:solidFill>
                <a:latin typeface="Calibri"/>
              </a:rPr>
              <a:t>Submitted days after the 2024 window opened, declined that cycle. The bar lifts around Nov 2028.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83080" y="4764024"/>
            <a:ext cx="6720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50" b="0" i="0">
                <a:solidFill>
                  <a:srgbClr val="656F7F"/>
                </a:solidFill>
                <a:latin typeface="Calibri"/>
              </a:rPr>
              <a:t>Unicode publishes submission dates, not decline dates; declines issue at cycle end, submitters notified by Nov 30.  Sources: unicode.org/emoji/emoji-proposals-status.html · unicode.org/emoji/proposals.html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39496"/>
            <a:ext cx="155448" cy="2651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856" y="237744"/>
            <a:ext cx="859536" cy="1554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47472"/>
            <a:ext cx="7315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484E56"/>
                </a:solidFill>
                <a:latin typeface="Century Gothic"/>
              </a:rPr>
              <a:t>Inside the Unicode Consortium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745736"/>
            <a:ext cx="146304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6F7F"/>
                </a:solidFill>
                <a:latin typeface="Calibri"/>
              </a:rPr>
              <a:t>Shuhan He, 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69264"/>
            <a:ext cx="7918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56F7F"/>
                </a:solidFill>
                <a:latin typeface="Calibri"/>
              </a:rPr>
              <a:t>Microsoft sits on the board and votes in the UTC. </a:t>
            </a:r>
            <a:r>
              <a:rPr sz="1050" b="1" i="0">
                <a:solidFill>
                  <a:srgbClr val="484E56"/>
                </a:solidFill>
                <a:latin typeface="Calibri"/>
              </a:rPr>
              <a:t>Emoji sits one level below the UTC.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316736"/>
            <a:ext cx="2011680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344168"/>
            <a:ext cx="18653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Unicode Consortium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65599" y="1682495"/>
            <a:ext cx="12801" cy="164592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16736" y="1840687"/>
            <a:ext cx="6510527" cy="12801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10335" y="1847088"/>
            <a:ext cx="12801" cy="128016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7784" y="1975104"/>
            <a:ext cx="1517904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2F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212140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2F5D8C"/>
                </a:solidFill>
                <a:latin typeface="Century Gothic"/>
              </a:rPr>
              <a:t>Board of</a:t>
            </a:r>
          </a:p>
          <a:p>
            <a:pPr algn="ctr"/>
            <a:r>
              <a:rPr sz="850" b="1" i="0">
                <a:solidFill>
                  <a:srgbClr val="2F5D8C"/>
                </a:solidFill>
                <a:latin typeface="Century Gothic"/>
              </a:rPr>
              <a:t>Directors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7" y="2523744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2F5D8C"/>
                </a:solidFill>
                <a:latin typeface="Calibri"/>
              </a:rPr>
              <a:t>Microsoft holds a seat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37967" y="1847088"/>
            <a:ext cx="12801" cy="128016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85415" y="1975104"/>
            <a:ext cx="1517904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58568" y="212140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CLDR Technical</a:t>
            </a:r>
          </a:p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Committee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79" y="2523744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56F7F"/>
                </a:solidFill>
                <a:latin typeface="Calibri"/>
              </a:rPr>
              <a:t>locale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65599" y="1847088"/>
            <a:ext cx="12801" cy="128016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13048" y="1975104"/>
            <a:ext cx="1517904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2F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86200" y="212140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2F5D8C"/>
                </a:solidFill>
                <a:latin typeface="Century Gothic"/>
              </a:rPr>
              <a:t>Unicode Technical</a:t>
            </a:r>
          </a:p>
          <a:p>
            <a:pPr algn="ctr"/>
            <a:r>
              <a:rPr sz="850" b="1" i="0">
                <a:solidFill>
                  <a:srgbClr val="2F5D8C"/>
                </a:solidFill>
                <a:latin typeface="Century Gothic"/>
              </a:rPr>
              <a:t>Committee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67911" y="2523744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2F5D8C"/>
                </a:solidFill>
                <a:latin typeface="Calibri"/>
              </a:rPr>
              <a:t>Microsoft votes here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3231" y="1847088"/>
            <a:ext cx="12801" cy="128016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40680" y="1975104"/>
            <a:ext cx="1517904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13832" y="212140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ICU Technical</a:t>
            </a:r>
          </a:p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Committee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95544" y="2523744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56F7F"/>
                </a:solidFill>
                <a:latin typeface="Calibri"/>
              </a:rPr>
              <a:t>ICU libraries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20863" y="1847088"/>
            <a:ext cx="12801" cy="128016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68311" y="1975104"/>
            <a:ext cx="1517904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41463" y="212140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Editorial</a:t>
            </a:r>
          </a:p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Committee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23175" y="2523744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56F7F"/>
                </a:solidFill>
                <a:latin typeface="Calibri"/>
              </a:rPr>
              <a:t>publications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59198" y="2779776"/>
            <a:ext cx="25603" cy="128016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316736" y="2894990"/>
            <a:ext cx="6510527" cy="25603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303934" y="2907792"/>
            <a:ext cx="25603" cy="128015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57784" y="3035808"/>
            <a:ext cx="1517904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8A5E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" y="318211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8A5E0F"/>
                </a:solidFill>
                <a:latin typeface="Century Gothic"/>
              </a:rPr>
              <a:t>Emoji Standard &amp;</a:t>
            </a:r>
          </a:p>
          <a:p>
            <a:pPr algn="ctr"/>
            <a:r>
              <a:rPr sz="850" b="1" i="0">
                <a:solidFill>
                  <a:srgbClr val="8A5E0F"/>
                </a:solidFill>
                <a:latin typeface="Century Gothic"/>
              </a:rPr>
              <a:t>Research WG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7" y="3511296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8A5E0F"/>
                </a:solidFill>
                <a:latin typeface="Calibri"/>
              </a:rPr>
              <a:t>our proposal is read here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31566" y="2907792"/>
            <a:ext cx="25603" cy="128015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185415" y="3035808"/>
            <a:ext cx="1517904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58568" y="318211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Script Encoding</a:t>
            </a:r>
          </a:p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WG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40279" y="3511296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56F7F"/>
                </a:solidFill>
                <a:latin typeface="Calibri"/>
              </a:rPr>
              <a:t>new scripts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59198" y="2907792"/>
            <a:ext cx="25603" cy="128015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813048" y="3035808"/>
            <a:ext cx="1517904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86200" y="318211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CJK &amp; Unihan</a:t>
            </a:r>
          </a:p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WG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67911" y="3511296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56F7F"/>
                </a:solidFill>
                <a:latin typeface="Calibri"/>
              </a:rPr>
              <a:t>Han characters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86830" y="2907792"/>
            <a:ext cx="25603" cy="128015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40680" y="3035808"/>
            <a:ext cx="1517904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13832" y="318211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Properties &amp;</a:t>
            </a:r>
          </a:p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Algorithms WG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95544" y="3511296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56F7F"/>
                </a:solidFill>
                <a:latin typeface="Calibri"/>
              </a:rPr>
              <a:t>character properties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14462" y="2907792"/>
            <a:ext cx="25603" cy="128015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068311" y="3035808"/>
            <a:ext cx="1517904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41463" y="318211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Editorial</a:t>
            </a:r>
          </a:p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WG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23175" y="3511296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56F7F"/>
                </a:solidFill>
                <a:latin typeface="Calibri"/>
              </a:rPr>
              <a:t>specification text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81728" y="2784348"/>
            <a:ext cx="17373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1">
                <a:solidFill>
                  <a:srgbClr val="656F7F"/>
                </a:solidFill>
                <a:latin typeface="Calibri"/>
              </a:rPr>
              <a:t>working groups recommend; the UTC votes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6928" y="3913632"/>
            <a:ext cx="8010144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2F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9808" y="4023360"/>
            <a:ext cx="76443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F5D8C"/>
                </a:solidFill>
                <a:latin typeface="Century Gothic"/>
              </a:rPr>
              <a:t>Microsoft's vote sits one level above the working group that reads our proposal.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9808" y="4279392"/>
            <a:ext cx="764438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56F7F"/>
                </a:solidFill>
                <a:latin typeface="Calibri"/>
              </a:rPr>
              <a:t>Full member = 1 UTC vote (Supporting = ½; associate, liaison and individual members do not vote)  ·  board seat: Vishal Chowdhary  ·  ships Segoe UI Emoji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83080" y="4764024"/>
            <a:ext cx="6720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56F7F"/>
                </a:solidFill>
                <a:latin typeface="Calibri"/>
              </a:rPr>
              <a:t>unicode.org/consortium/consort.html  ·  unicode.org/consortium/utc.html  ·  unicode.org/consortium/directors.html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39496"/>
            <a:ext cx="155448" cy="2651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856" y="237744"/>
            <a:ext cx="859536" cy="1554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47472"/>
            <a:ext cx="7315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484E56"/>
                </a:solidFill>
                <a:latin typeface="Century Gothic"/>
              </a:rPr>
              <a:t>Whole sets get 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745736"/>
            <a:ext cx="146304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6F7F"/>
                </a:solidFill>
                <a:latin typeface="Calibri"/>
              </a:rPr>
              <a:t>Shuhan He, 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69264"/>
            <a:ext cx="7918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56F7F"/>
                </a:solidFill>
                <a:latin typeface="Calibri"/>
              </a:rPr>
              <a:t>When a member company carries them. </a:t>
            </a:r>
            <a:r>
              <a:rPr sz="1050" b="1" i="0">
                <a:solidFill>
                  <a:srgbClr val="484E56"/>
                </a:solidFill>
                <a:latin typeface="Calibri"/>
              </a:rPr>
              <a:t>Apple did exactly this for accessibility in 2018.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16736"/>
            <a:ext cx="42976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1E7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329537"/>
            <a:ext cx="4114800" cy="45720"/>
          </a:xfrm>
          <a:prstGeom prst="rect">
            <a:avLst/>
          </a:prstGeom>
          <a:solidFill>
            <a:srgbClr val="1E7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99616"/>
            <a:ext cx="39684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E7A50"/>
                </a:solidFill>
                <a:latin typeface="Century Gothic"/>
              </a:rPr>
              <a:t>Apple's accessibility 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73936"/>
            <a:ext cx="39684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56F7F"/>
                </a:solidFill>
                <a:latin typeface="Calibri"/>
              </a:rPr>
              <a:t>L2/18-080  ·  Submitter: Apple Inc.  ·  March 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48256"/>
            <a:ext cx="3931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E7A50"/>
                </a:solidFill>
                <a:latin typeface="Calibri"/>
              </a:rPr>
              <a:t>—  </a:t>
            </a:r>
            <a:r>
              <a:rPr sz="900" b="1" i="0">
                <a:solidFill>
                  <a:srgbClr val="484E56"/>
                </a:solidFill>
                <a:latin typeface="Calibri"/>
              </a:rPr>
              <a:t>One curated set</a:t>
            </a:r>
            <a:r>
              <a:rPr sz="900" b="0" i="0">
                <a:solidFill>
                  <a:srgbClr val="656F7F"/>
                </a:solidFill>
                <a:latin typeface="Calibri"/>
              </a:rPr>
              <a:t> across four categories, built with the American Council of the Blind, the Cerebral Palsy Foundation and the National Association of the Deaf.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578608"/>
            <a:ext cx="3931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E7A50"/>
                </a:solidFill>
                <a:latin typeface="Calibri"/>
              </a:rPr>
              <a:t>—  </a:t>
            </a:r>
            <a:r>
              <a:rPr sz="900" b="1" i="0">
                <a:solidFill>
                  <a:srgbClr val="484E56"/>
                </a:solidFill>
                <a:latin typeface="Calibri"/>
              </a:rPr>
              <a:t>Nine concepts shipped</a:t>
            </a:r>
            <a:r>
              <a:rPr sz="900" b="0" i="0">
                <a:solidFill>
                  <a:srgbClr val="656F7F"/>
                </a:solidFill>
                <a:latin typeface="Calibri"/>
              </a:rPr>
              <a:t> in Emoji 12.0 (2019): guide dog, service dog, probing cane, both wheelchairs, ear with hearing aid, deaf person, mechanical arm and leg.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27248"/>
            <a:ext cx="3968496" cy="512064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 w="9525">
            <a:solidFill>
              <a:srgbClr val="F3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200400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484E56"/>
                </a:solidFill>
                <a:latin typeface="Calibri"/>
              </a:rPr>
              <a:t>“This is not meant to be a comprehensive list of all possible depictions of disabilities, but to provide an initial starting point.”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10912" y="1316736"/>
            <a:ext cx="356616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57216" y="1435607"/>
            <a:ext cx="3273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484E56"/>
                </a:solidFill>
                <a:latin typeface="Century Gothic"/>
              </a:rPr>
              <a:t>Plan International UK + NHS Blood and Transplant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1655064"/>
            <a:ext cx="3273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656F7F"/>
                </a:solidFill>
                <a:latin typeface="Calibri"/>
              </a:rPr>
              <a:t>Drop of blood, Emoji 12.0 (2019). Their narrower</a:t>
            </a:r>
          </a:p>
          <a:p>
            <a:r>
              <a:rPr sz="780" b="0" i="0">
                <a:solidFill>
                  <a:srgbClr val="656F7F"/>
                </a:solidFill>
                <a:latin typeface="Calibri"/>
              </a:rPr>
              <a:t>“period pants” proposal was declined first.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10912" y="2176272"/>
            <a:ext cx="356616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57216" y="2295144"/>
            <a:ext cx="3273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484E56"/>
                </a:solidFill>
                <a:latin typeface="Century Gothic"/>
              </a:rPr>
              <a:t>Tinder + Emojination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2514600"/>
            <a:ext cx="3273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656F7F"/>
                </a:solidFill>
                <a:latin typeface="Calibri"/>
              </a:rPr>
              <a:t>71 holding-hands combinations, Emoji 12.1 (2019).</a:t>
            </a:r>
          </a:p>
          <a:p>
            <a:r>
              <a:rPr sz="780" b="0" i="0">
                <a:solidFill>
                  <a:srgbClr val="656F7F"/>
                </a:solidFill>
                <a:latin typeface="Calibri"/>
              </a:rPr>
              <a:t>Emojination's founder later vice-chaired the subcommittee.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10912" y="3035808"/>
            <a:ext cx="356616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7216" y="3154679"/>
            <a:ext cx="3273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484E56"/>
                </a:solidFill>
                <a:latin typeface="Century Gothic"/>
              </a:rPr>
              <a:t>Google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7216" y="3374136"/>
            <a:ext cx="3273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656F7F"/>
                </a:solidFill>
                <a:latin typeface="Calibri"/>
              </a:rPr>
              <a:t>Gender-inclusive designs across ~53 human emoji.</a:t>
            </a:r>
          </a:p>
          <a:p>
            <a:r>
              <a:rPr sz="780" b="0" i="0">
                <a:solidFill>
                  <a:srgbClr val="656F7F"/>
                </a:solidFill>
                <a:latin typeface="Calibri"/>
              </a:rPr>
              <a:t>L2/19-078 (2019).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877056"/>
            <a:ext cx="8010144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2F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986784"/>
            <a:ext cx="76443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F5D8C"/>
                </a:solidFill>
                <a:latin typeface="Century Gothic"/>
              </a:rPr>
              <a:t>Unicode declines taxonomies, not sets.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242816"/>
            <a:ext cx="76443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56F7F"/>
                </a:solidFill>
                <a:latin typeface="Calibri"/>
              </a:rPr>
              <a:t>“The goal is iconic representation of large categories, not completeness in the sense of filling out the categories of a scientific or taxonomic classification system.”  </a:t>
            </a:r>
            <a:r>
              <a:rPr sz="800" b="0" i="0">
                <a:solidFill>
                  <a:srgbClr val="484E56"/>
                </a:solidFill>
                <a:latin typeface="Calibri"/>
              </a:rPr>
              <a:t>Fourteen organs read as a taxonomy. A curated set, carried by a member, reads as Apple 2018.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4764024"/>
            <a:ext cx="6720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56F7F"/>
                </a:solidFill>
                <a:latin typeface="Calibri"/>
              </a:rPr>
              <a:t>unicode.org/L2/L2018/18080-accessibility-emoji.pdf  ·  unicode.org/emoji/proposals.html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9"/>
          <p:cNvSpPr txBox="1"/>
          <p:nvPr/>
        </p:nvSpPr>
        <p:spPr>
          <a:xfrm>
            <a:off x="550725" y="347325"/>
            <a:ext cx="832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484E5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Request</a:t>
            </a:r>
            <a:endParaRPr sz="3000" b="1">
              <a:solidFill>
                <a:srgbClr val="484E5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70" name="Google Shape;27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350" y="538702"/>
            <a:ext cx="154400" cy="26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9"/>
          <p:cNvSpPr/>
          <p:nvPr/>
        </p:nvSpPr>
        <p:spPr>
          <a:xfrm>
            <a:off x="166925" y="4742250"/>
            <a:ext cx="990300" cy="26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B8698"/>
                </a:solidFill>
              </a:rPr>
              <a:t>Shuhan He, MD</a:t>
            </a:r>
            <a:endParaRPr/>
          </a:p>
        </p:txBody>
      </p:sp>
      <p:sp>
        <p:nvSpPr>
          <p:cNvPr id="272" name="Google Shape;272;p29"/>
          <p:cNvSpPr txBox="1"/>
          <p:nvPr/>
        </p:nvSpPr>
        <p:spPr>
          <a:xfrm>
            <a:off x="8680675" y="4853850"/>
            <a:ext cx="242400" cy="1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888888"/>
                </a:solidFill>
              </a:rPr>
              <a:t>8</a:t>
            </a:fld>
            <a:endParaRPr sz="800">
              <a:solidFill>
                <a:srgbClr val="888888"/>
              </a:solidFill>
            </a:endParaRPr>
          </a:p>
        </p:txBody>
      </p:sp>
      <p:pic>
        <p:nvPicPr>
          <p:cNvPr id="273" name="Google Shape;273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87925" y="235825"/>
            <a:ext cx="858925" cy="15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39496"/>
            <a:ext cx="155448" cy="2651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856" y="237744"/>
            <a:ext cx="859536" cy="1554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47472"/>
            <a:ext cx="7315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484E56"/>
                </a:solidFill>
                <a:latin typeface="Century Gothic"/>
              </a:rPr>
              <a:t>How Apple did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745736"/>
            <a:ext cx="146304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6F7F"/>
                </a:solidFill>
                <a:latin typeface="Calibri"/>
              </a:rPr>
              <a:t>Shuhan He, 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50976"/>
            <a:ext cx="7918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56F7F"/>
                </a:solidFill>
                <a:latin typeface="Calibri"/>
              </a:rPr>
              <a:t>L2/18-080 answered Unicode's selection factors one by one, under a heading titled </a:t>
            </a:r>
            <a:r>
              <a:rPr sz="1050" b="1" i="0">
                <a:solidFill>
                  <a:srgbClr val="484E56"/>
                </a:solidFill>
                <a:latin typeface="Calibri"/>
              </a:rPr>
              <a:t>“Counterarguments to Factors for Exclusion.”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44752"/>
            <a:ext cx="8010144" cy="7315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545336"/>
            <a:ext cx="17007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84E56"/>
                </a:solidFill>
                <a:latin typeface="Century Gothic"/>
              </a:rPr>
              <a:t>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508760"/>
            <a:ext cx="619963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" b="0" i="1">
                <a:solidFill>
                  <a:srgbClr val="484E56"/>
                </a:solidFill>
                <a:latin typeface="Calibri"/>
              </a:rPr>
              <a:t>“the most compelling factor for this proposal is not frequency of use of each character, but the desire to be inclusive in representation.”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755648"/>
            <a:ext cx="61996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56F7F"/>
                </a:solidFill>
                <a:latin typeface="Calibri"/>
              </a:rPr>
              <a:t>Then filed the Google Trends data anyway, reproducibly: “each data item was obtained using a new private browser window.”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901952"/>
            <a:ext cx="8010144" cy="7315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002536"/>
            <a:ext cx="17007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84E56"/>
                </a:solidFill>
                <a:latin typeface="Century Gothic"/>
              </a:rPr>
              <a:t>Breaking new</a:t>
            </a:r>
          </a:p>
          <a:p>
            <a:r>
              <a:rPr sz="900" b="1" i="0">
                <a:solidFill>
                  <a:srgbClr val="484E56"/>
                </a:solidFill>
                <a:latin typeface="Century Gothic"/>
              </a:rPr>
              <a:t>ground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1965960"/>
            <a:ext cx="619963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" b="0" i="1">
                <a:solidFill>
                  <a:srgbClr val="484E56"/>
                </a:solidFill>
                <a:latin typeface="Calibri"/>
              </a:rPr>
              <a:t>“Other than the wheelchair symbol, there are currently no emoji that can be used to depict various forms of disability.”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359152"/>
            <a:ext cx="8010144" cy="7315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459736"/>
            <a:ext cx="17007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84E56"/>
                </a:solidFill>
                <a:latin typeface="Century Gothic"/>
              </a:rPr>
              <a:t>Image</a:t>
            </a:r>
          </a:p>
          <a:p>
            <a:r>
              <a:rPr sz="900" b="1" i="0">
                <a:solidFill>
                  <a:srgbClr val="484E56"/>
                </a:solidFill>
                <a:latin typeface="Century Gothic"/>
              </a:rPr>
              <a:t>distinctiveness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423160"/>
            <a:ext cx="619963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" b="0" i="1">
                <a:solidFill>
                  <a:srgbClr val="484E56"/>
                </a:solidFill>
                <a:latin typeface="Calibri"/>
              </a:rPr>
              <a:t>“the image of a hearing aid would not be sufficiently distinctive at emoji scale; it needs to be shown with an ear in order to establish its identity.”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670048"/>
            <a:ext cx="61996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56F7F"/>
                </a:solidFill>
                <a:latin typeface="Calibri"/>
              </a:rPr>
              <a:t>Argued manual and motorized wheelchairs must be separate characters, not one.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" y="2816352"/>
            <a:ext cx="8119872" cy="438912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 w="9525">
            <a:solidFill>
              <a:srgbClr val="F3F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916936"/>
            <a:ext cx="17007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5E0F"/>
                </a:solidFill>
                <a:latin typeface="Century Gothic"/>
              </a:rPr>
              <a:t>Open-ended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2880360"/>
            <a:ext cx="619963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" b="0" i="1">
                <a:solidFill>
                  <a:srgbClr val="484E56"/>
                </a:solidFill>
                <a:latin typeface="Calibri"/>
              </a:rPr>
              <a:t>“we don't expect such discussion to lead to proposals for a large number of additions beyond the current proposal.”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127248"/>
            <a:ext cx="61996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56F7F"/>
                </a:solidFill>
                <a:latin typeface="Calibri"/>
              </a:rPr>
              <a:t>The exclusion factor that a fourteen-organ set trips. Apple answered it before it was asked.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273552"/>
            <a:ext cx="8010144" cy="7315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374136"/>
            <a:ext cx="17007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84E56"/>
                </a:solidFill>
                <a:latin typeface="Century Gothic"/>
              </a:rPr>
              <a:t>Partners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3337560"/>
            <a:ext cx="619963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" b="0" i="1">
                <a:solidFill>
                  <a:srgbClr val="484E56"/>
                </a:solidFill>
                <a:latin typeface="Calibri"/>
              </a:rPr>
              <a:t>“Developed in collaboration with … American Council of the Blind, the Cerebral Palsy Foundation and the National Association of the Deaf.”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895344"/>
            <a:ext cx="8010144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2F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995928"/>
            <a:ext cx="76443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F5D8C"/>
                </a:solidFill>
                <a:latin typeface="Century Gothic"/>
              </a:rPr>
              <a:t>Apple argued Unicode's factors, in Unicode's order, in Unicode's words.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242816"/>
            <a:ext cx="76443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>
                <a:solidFill>
                  <a:srgbClr val="484E56"/>
                </a:solidFill>
                <a:latin typeface="Calibri"/>
              </a:rPr>
              <a:t>Our packets led with medical importance and supporter credibility. </a:t>
            </a:r>
            <a:r>
              <a:rPr sz="780" b="0" i="0">
                <a:solidFill>
                  <a:srgbClr val="656F7F"/>
                </a:solidFill>
                <a:latin typeface="Calibri"/>
              </a:rPr>
              <a:t>Unicode lists neither as a selection factor. Nine of Apple's concepts shipped in Emoji 12.0 (2019).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4764024"/>
            <a:ext cx="6720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56F7F"/>
                </a:solidFill>
                <a:latin typeface="Calibri"/>
              </a:rPr>
              <a:t>All quotes verbatim: unicode.org/L2/L2018/18080-accessibility-emoji.pdf  ·  factors: unicode.org/emoji/proposals.html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</Words>
  <Application>Microsoft Office PowerPoint</Application>
  <PresentationFormat>On-screen Show (16:9)</PresentationFormat>
  <Paragraphs>89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Century Gothic</vt:lpstr>
      <vt:lpstr>Calibri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Shuhan He, MD Han</cp:lastModifiedBy>
  <cp:revision>1</cp:revision>
  <dcterms:modified xsi:type="dcterms:W3CDTF">2026-07-09T15:20:28Z</dcterms:modified>
</cp:coreProperties>
</file>