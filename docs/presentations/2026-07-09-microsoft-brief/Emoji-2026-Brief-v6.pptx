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96586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7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680000">
            <a:off x="8046720" y="-1005840"/>
            <a:ext cx="5303520" cy="5303520"/>
          </a:xfrm>
          <a:prstGeom prst="arc">
            <a:avLst/>
          </a:prstGeom>
          <a:solidFill>
            <a:srgbClr val="2563EB">
              <a:alpha val="32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2360000">
            <a:off x="8869680" y="3108960"/>
            <a:ext cx="3840480" cy="3840480"/>
          </a:xfrm>
          <a:prstGeom prst="arc">
            <a:avLst/>
          </a:prstGeom>
          <a:solidFill>
            <a:srgbClr val="0E7490">
              <a:alpha val="42000"/>
            </a:srgbClr>
          </a:solidFill>
          <a:ln w="12700">
            <a:solidFill>
              <a:srgbClr val="0E749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71323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60" dirty="0">
                <a:solidFill>
                  <a:srgbClr val="8FC5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MICROSOFT INTERNAL REVIEW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" y="1325880"/>
            <a:ext cx="7040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Medical Emoji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77240" y="2331720"/>
            <a:ext cx="7040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D7E4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focused 2026 filing decision and a defensible Unicode review path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77240" y="3456432"/>
            <a:ext cx="5394960" cy="1078992"/>
          </a:xfrm>
          <a:prstGeom prst="rect">
            <a:avLst/>
          </a:prstGeom>
          <a:solidFill>
            <a:srgbClr val="132653"/>
          </a:solidFill>
          <a:ln w="12700">
            <a:solidFill>
              <a:srgbClr val="2B4C8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3712464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Decision needed by July 17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51560" y="4105656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FC7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conditional lead. One fallback. No 2026 organ filing.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7240" y="6144768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FC7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Prepared by Shuhan He  |  July 12, 2026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50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RECOMMENDATION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decision is narrow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3520440" cy="3886200"/>
          </a:xfrm>
          <a:prstGeom prst="roundRect">
            <a:avLst>
              <a:gd name="adj" fmla="val 1558"/>
            </a:avLst>
          </a:prstGeom>
          <a:solidFill>
            <a:srgbClr val="E8F7F4"/>
          </a:solidFill>
          <a:ln w="10160">
            <a:solidFill>
              <a:srgbClr val="D8DEE9"/>
            </a:solidFill>
            <a:prstDash val="solid"/>
          </a:ln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417320"/>
            <a:ext cx="91440" cy="3886200"/>
          </a:xfrm>
          <a:prstGeom prst="rect">
            <a:avLst/>
          </a:prstGeom>
          <a:solidFill>
            <a:srgbClr val="159A72"/>
          </a:solidFill>
          <a:ln w="12700">
            <a:solidFill>
              <a:srgbClr val="159A72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60020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10" dirty="0">
                <a:solidFill>
                  <a:srgbClr val="159A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CONDITIONAL LEAD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50392" y="1911096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Ultrasound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50392" y="2350008"/>
            <a:ext cx="3017520" cy="2807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Advance only after the four missing Google captures are embedded and the monitor-plus-probe image passes an 18 × 18 px recognition review.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14400" y="4718304"/>
            <a:ext cx="278892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736592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59A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EVIDENCE + DESIGN GATE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43400" y="1417320"/>
            <a:ext cx="3520440" cy="3886200"/>
          </a:xfrm>
          <a:prstGeom prst="roundRect">
            <a:avLst>
              <a:gd name="adj" fmla="val 1558"/>
            </a:avLst>
          </a:prstGeom>
          <a:solidFill>
            <a:srgbClr val="EAF1FF"/>
          </a:solidFill>
          <a:ln w="10160">
            <a:solidFill>
              <a:srgbClr val="D8DEE9"/>
            </a:solidFill>
            <a:prstDash val="solid"/>
          </a:ln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43400" y="1417320"/>
            <a:ext cx="91440" cy="3886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99432" y="160020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10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FALLBACK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99432" y="1911096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CT Scan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99432" y="2350008"/>
            <a:ext cx="3017520" cy="2807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only if its 2020 evidence, current factor labels, and the submitter’s explicit ownership warranty are refreshed. It is a fallback packet, not filing-ready today.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663440" y="4718304"/>
            <a:ext cx="278892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4736592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CURRENT-FORMAT REFRESH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092440" y="1417320"/>
            <a:ext cx="3520440" cy="3886200"/>
          </a:xfrm>
          <a:prstGeom prst="roundRect">
            <a:avLst>
              <a:gd name="adj" fmla="val 1558"/>
            </a:avLst>
          </a:prstGeom>
          <a:solidFill>
            <a:srgbClr val="FCEAE8"/>
          </a:solidFill>
          <a:ln w="10160">
            <a:solidFill>
              <a:srgbClr val="D8DEE9"/>
            </a:solidFill>
            <a:prstDash val="solid"/>
          </a:ln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092440" y="1417320"/>
            <a:ext cx="91440" cy="3886200"/>
          </a:xfrm>
          <a:prstGeom prst="rect">
            <a:avLst/>
          </a:prstGeom>
          <a:solidFill>
            <a:srgbClr val="C85A54"/>
          </a:solidFill>
          <a:ln w="12700">
            <a:solidFill>
              <a:srgbClr val="C85A54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48472" y="160020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10" dirty="0">
                <a:solidFill>
                  <a:srgbClr val="C85A5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HOLD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348472" y="1911096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Kidney · Stomach · Liver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8348472" y="2350008"/>
            <a:ext cx="3017520" cy="2807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Keep the redesigned v1.7 organ packets as future-cycle assets. Their November 2022 declines remain inside Unicode's four-year re-review bar during the July 2026 intake.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412480" y="4718304"/>
            <a:ext cx="278892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12480" y="4736592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85A5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ELIGIBILITY GATE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94360" y="6419088"/>
            <a:ext cx="10652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Source: https://www.unicode.org/emoji/proposals.html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384280" y="6419088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50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SUBMISSION BAR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Four non-negotiable submission checks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5394960" cy="187452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0160">
            <a:solidFill>
              <a:srgbClr val="D8DEE9"/>
            </a:solidFill>
            <a:prstDash val="solid"/>
          </a:ln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50392" y="1709928"/>
            <a:ext cx="6583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645920" y="169164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Public PDF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45920" y="2167128"/>
            <a:ext cx="3977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publicly accessible PDF link submitted through the official form; individual submitter names, title, and revision date.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17920" y="1417320"/>
            <a:ext cx="5394960" cy="187452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0160">
            <a:solidFill>
              <a:srgbClr val="D8DEE9"/>
            </a:solidFill>
            <a:prstDash val="solid"/>
          </a:ln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73952" y="1709928"/>
            <a:ext cx="6583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269480" y="169164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Four example images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269480" y="2167128"/>
            <a:ext cx="3977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Color and true black-and-white artwork at 18 × 18 px and 72 × 72 px, all at the top of page 1.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94360" y="3657600"/>
            <a:ext cx="5394960" cy="187452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0160">
            <a:solidFill>
              <a:srgbClr val="D8DEE9"/>
            </a:solidFill>
            <a:prstDash val="solid"/>
          </a:ln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50392" y="3950208"/>
            <a:ext cx="6583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0F8A7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645920" y="393192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Five usage screenshots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645920" y="4407408"/>
            <a:ext cx="3977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Google Search, Google Video Search, Google Trends (Web and Image), and Google Books Ngram embedded in the PDF; use elephant as the comparator where required.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17920" y="3657600"/>
            <a:ext cx="5394960" cy="187452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0160">
            <a:solidFill>
              <a:srgbClr val="D8DEE9"/>
            </a:solidFill>
            <a:prstDash val="solid"/>
          </a:ln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73952" y="3950208"/>
            <a:ext cx="6583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04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269480" y="393192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Rights + factors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269480" y="4407408"/>
            <a:ext cx="3977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Explicit IP-rights warranty, current inclusion and exclusion factors, reproducible data, and no reliance on petitions or logos.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94360" y="6419088"/>
            <a:ext cx="10652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Guidance: https://www.unicode.org/emoji/proposals.html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384280" y="6419088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50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PORTFOLIO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Submission readiness determines the 2026 order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10835640" cy="1188720"/>
          </a:xfrm>
          <a:prstGeom prst="roundRect">
            <a:avLst>
              <a:gd name="adj" fmla="val 3846"/>
            </a:avLst>
          </a:prstGeom>
          <a:solidFill>
            <a:srgbClr val="E8F7F4"/>
          </a:solidFill>
          <a:ln w="12700">
            <a:solidFill>
              <a:srgbClr val="159A72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1737360"/>
            <a:ext cx="530352" cy="530352"/>
          </a:xfrm>
          <a:prstGeom prst="ellipse">
            <a:avLst/>
          </a:prstGeom>
          <a:solidFill>
            <a:srgbClr val="159A72"/>
          </a:solidFill>
          <a:ln w="12700">
            <a:solidFill>
              <a:srgbClr val="159A72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810512"/>
            <a:ext cx="530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719072" y="161848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Ultrasound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719072" y="208483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59A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Conditional lead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90288" y="1737360"/>
            <a:ext cx="6355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Google Books Ngram is documented; four current Google screenshots and an 18 × 18 px recognition sign-off are still missing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85800" y="2907792"/>
            <a:ext cx="10835640" cy="1188720"/>
          </a:xfrm>
          <a:prstGeom prst="roundRect">
            <a:avLst>
              <a:gd name="adj" fmla="val 3846"/>
            </a:avLst>
          </a:prstGeom>
          <a:solidFill>
            <a:srgbClr val="EAF1FF"/>
          </a:solidFill>
          <a:ln w="12700">
            <a:solidFill>
              <a:srgbClr val="2563EB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0120" y="3227832"/>
            <a:ext cx="530352" cy="5303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3300984"/>
            <a:ext cx="530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719072" y="3108960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CT Scan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719072" y="357530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Fallback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90288" y="3227832"/>
            <a:ext cx="6355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five evidence categories are present, but the 2020 captures, factor labels, and ownership language need a current-format refresh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85800" y="4398264"/>
            <a:ext cx="10835640" cy="1188720"/>
          </a:xfrm>
          <a:prstGeom prst="roundRect">
            <a:avLst>
              <a:gd name="adj" fmla="val 3846"/>
            </a:avLst>
          </a:prstGeom>
          <a:solidFill>
            <a:srgbClr val="FCEAE8"/>
          </a:solidFill>
          <a:ln w="12700">
            <a:solidFill>
              <a:srgbClr val="C85A54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60120" y="4718304"/>
            <a:ext cx="530352" cy="530352"/>
          </a:xfrm>
          <a:prstGeom prst="ellipse">
            <a:avLst/>
          </a:prstGeom>
          <a:solidFill>
            <a:srgbClr val="C85A54"/>
          </a:solidFill>
          <a:ln w="12700">
            <a:solidFill>
              <a:srgbClr val="C85A54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4791456"/>
            <a:ext cx="530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719072" y="4599432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Kidney · Stomach · Liver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719072" y="506577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5A5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Future-cycle assets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90288" y="4718304"/>
            <a:ext cx="6355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v1.7 artwork and PDFs are reviewable, but their November 2022 declines remain within Unicode’s four-year re-review window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143000" y="5961888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 not label a concept filing-ready until its evidence, rights, formatting, and eligibility gates are all closed.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94360" y="6419088"/>
            <a:ext cx="10652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Proposal workspace: https://github.com/ShuhanCS/medicalemoji/tree/codex/eligible-2026-slate/submissions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384280" y="6419088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50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FUTURE-CYCLE ASSETS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Organ art was rebuilt for small-size review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10927080" cy="1225296"/>
          </a:xfrm>
          <a:prstGeom prst="roundRect">
            <a:avLst>
              <a:gd name="adj" fmla="val 3731"/>
            </a:avLst>
          </a:prstGeom>
          <a:solidFill>
            <a:srgbClr val="FFFFFF"/>
          </a:solidFill>
          <a:ln w="10160">
            <a:solidFill>
              <a:srgbClr val="D8DEE9"/>
            </a:solidFill>
            <a:prstDash val="solid"/>
          </a:ln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837944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Kidney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423160" y="1581912"/>
            <a:ext cx="1078992" cy="786384"/>
          </a:xfrm>
          <a:prstGeom prst="rect">
            <a:avLst/>
          </a:prstGeom>
          <a:solidFill>
            <a:srgbClr val="F4F7FB"/>
          </a:solidFill>
          <a:ln w="7620">
            <a:solidFill>
              <a:srgbClr val="D8DEE9"/>
            </a:solidFill>
            <a:prstDash val="solid"/>
          </a:ln>
        </p:spPr>
      </p:sp>
      <p:pic>
        <p:nvPicPr>
          <p:cNvPr id="7" name="Image 0" descr="Kidney 72 px color proposal artwor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3472" y="1655064"/>
            <a:ext cx="658368" cy="6583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423160" y="2359152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72 px color</a:t>
            </a:r>
            <a:endParaRPr lang="en-US" sz="870" dirty="0"/>
          </a:p>
        </p:txBody>
      </p:sp>
      <p:sp>
        <p:nvSpPr>
          <p:cNvPr id="9" name="Shape 6"/>
          <p:cNvSpPr/>
          <p:nvPr/>
        </p:nvSpPr>
        <p:spPr>
          <a:xfrm>
            <a:off x="3822192" y="1581912"/>
            <a:ext cx="1078992" cy="786384"/>
          </a:xfrm>
          <a:prstGeom prst="rect">
            <a:avLst/>
          </a:prstGeom>
          <a:solidFill>
            <a:srgbClr val="F4F7FB"/>
          </a:solidFill>
          <a:ln w="7620">
            <a:solidFill>
              <a:srgbClr val="D8DEE9"/>
            </a:solidFill>
            <a:prstDash val="solid"/>
          </a:ln>
        </p:spPr>
      </p:sp>
      <p:pic>
        <p:nvPicPr>
          <p:cNvPr id="10" name="Image 1" descr="Kidney 18 px color artwork at approximately native presentation siz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4488" y="1883664"/>
            <a:ext cx="173736" cy="173736"/>
          </a:xfrm>
          <a:prstGeom prst="rect">
            <a:avLst/>
          </a:prstGeom>
        </p:spPr>
      </p:pic>
      <p:pic>
        <p:nvPicPr>
          <p:cNvPr id="11" name="Image 2" descr="Kidney 18 px color artwork enlarged for inspecti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0" y="1673352"/>
            <a:ext cx="566928" cy="56692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822192" y="2359152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 px color</a:t>
            </a:r>
            <a:endParaRPr lang="en-US" sz="870" dirty="0"/>
          </a:p>
        </p:txBody>
      </p:sp>
      <p:sp>
        <p:nvSpPr>
          <p:cNvPr id="13" name="Text 8"/>
          <p:cNvSpPr/>
          <p:nvPr/>
        </p:nvSpPr>
        <p:spPr>
          <a:xfrm>
            <a:off x="3822192" y="2496312"/>
            <a:ext cx="10789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native  |  enlarged</a:t>
            </a:r>
            <a:endParaRPr lang="en-US" sz="680" dirty="0"/>
          </a:p>
        </p:txBody>
      </p:sp>
      <p:sp>
        <p:nvSpPr>
          <p:cNvPr id="14" name="Shape 9"/>
          <p:cNvSpPr/>
          <p:nvPr/>
        </p:nvSpPr>
        <p:spPr>
          <a:xfrm>
            <a:off x="5221224" y="1581912"/>
            <a:ext cx="1078992" cy="786384"/>
          </a:xfrm>
          <a:prstGeom prst="rect">
            <a:avLst/>
          </a:prstGeom>
          <a:solidFill>
            <a:srgbClr val="F4F7FB"/>
          </a:solidFill>
          <a:ln w="7620">
            <a:solidFill>
              <a:srgbClr val="D8DEE9"/>
            </a:solidFill>
            <a:prstDash val="solid"/>
          </a:ln>
        </p:spPr>
      </p:sp>
      <p:pic>
        <p:nvPicPr>
          <p:cNvPr id="15" name="Image 3" descr="Kidney 72 px B&amp;W proposal artwork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31536" y="1655064"/>
            <a:ext cx="658368" cy="65836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221224" y="2359152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72 px B&amp;W</a:t>
            </a:r>
            <a:endParaRPr lang="en-US" sz="870" dirty="0"/>
          </a:p>
        </p:txBody>
      </p:sp>
      <p:sp>
        <p:nvSpPr>
          <p:cNvPr id="17" name="Shape 11"/>
          <p:cNvSpPr/>
          <p:nvPr/>
        </p:nvSpPr>
        <p:spPr>
          <a:xfrm>
            <a:off x="6620256" y="1581912"/>
            <a:ext cx="1078992" cy="786384"/>
          </a:xfrm>
          <a:prstGeom prst="rect">
            <a:avLst/>
          </a:prstGeom>
          <a:solidFill>
            <a:srgbClr val="F4F7FB"/>
          </a:solidFill>
          <a:ln w="7620">
            <a:solidFill>
              <a:srgbClr val="D8DEE9"/>
            </a:solidFill>
            <a:prstDash val="solid"/>
          </a:ln>
        </p:spPr>
      </p:sp>
      <p:pic>
        <p:nvPicPr>
          <p:cNvPr id="18" name="Image 4" descr="Kidney 18 px B&amp;W artwork at approximately native presentation siz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02552" y="1883664"/>
            <a:ext cx="173736" cy="173736"/>
          </a:xfrm>
          <a:prstGeom prst="rect">
            <a:avLst/>
          </a:prstGeom>
        </p:spPr>
      </p:pic>
      <p:pic>
        <p:nvPicPr>
          <p:cNvPr id="19" name="Image 5" descr="Kidney 18 px B&amp;W artwork enlarged for inspecti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04304" y="1673352"/>
            <a:ext cx="566928" cy="566928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6620256" y="2359152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 px B&amp;W</a:t>
            </a:r>
            <a:endParaRPr lang="en-US" sz="870" dirty="0"/>
          </a:p>
        </p:txBody>
      </p:sp>
      <p:sp>
        <p:nvSpPr>
          <p:cNvPr id="21" name="Text 13"/>
          <p:cNvSpPr/>
          <p:nvPr/>
        </p:nvSpPr>
        <p:spPr>
          <a:xfrm>
            <a:off x="6620256" y="2496312"/>
            <a:ext cx="10789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native  |  enlarged</a:t>
            </a:r>
            <a:endParaRPr lang="en-US" sz="680" dirty="0"/>
          </a:p>
        </p:txBody>
      </p:sp>
      <p:sp>
        <p:nvSpPr>
          <p:cNvPr id="22" name="Text 14"/>
          <p:cNvSpPr/>
          <p:nvPr/>
        </p:nvSpPr>
        <p:spPr>
          <a:xfrm>
            <a:off x="8366760" y="186537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One specimen; hilum + ureter</a:t>
            </a:r>
            <a:endParaRPr lang="en-US" sz="1200" dirty="0"/>
          </a:p>
        </p:txBody>
      </p:sp>
      <p:sp>
        <p:nvSpPr>
          <p:cNvPr id="23" name="Shape 15"/>
          <p:cNvSpPr/>
          <p:nvPr/>
        </p:nvSpPr>
        <p:spPr>
          <a:xfrm>
            <a:off x="640080" y="2862072"/>
            <a:ext cx="10927080" cy="1225296"/>
          </a:xfrm>
          <a:prstGeom prst="roundRect">
            <a:avLst>
              <a:gd name="adj" fmla="val 3731"/>
            </a:avLst>
          </a:prstGeom>
          <a:solidFill>
            <a:srgbClr val="FFFFFF"/>
          </a:solidFill>
          <a:ln w="10160">
            <a:solidFill>
              <a:srgbClr val="D8DEE9"/>
            </a:solidFill>
            <a:prstDash val="solid"/>
          </a:ln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Text 16"/>
          <p:cNvSpPr/>
          <p:nvPr/>
        </p:nvSpPr>
        <p:spPr>
          <a:xfrm>
            <a:off x="914400" y="3282696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Stomach</a:t>
            </a:r>
            <a:endParaRPr lang="en-US" sz="1800" dirty="0"/>
          </a:p>
        </p:txBody>
      </p:sp>
      <p:sp>
        <p:nvSpPr>
          <p:cNvPr id="25" name="Shape 17"/>
          <p:cNvSpPr/>
          <p:nvPr/>
        </p:nvSpPr>
        <p:spPr>
          <a:xfrm>
            <a:off x="2423160" y="3026664"/>
            <a:ext cx="1078992" cy="786384"/>
          </a:xfrm>
          <a:prstGeom prst="rect">
            <a:avLst/>
          </a:prstGeom>
          <a:solidFill>
            <a:srgbClr val="F4F7FB"/>
          </a:solidFill>
          <a:ln w="7620">
            <a:solidFill>
              <a:srgbClr val="D8DEE9"/>
            </a:solidFill>
            <a:prstDash val="solid"/>
          </a:ln>
        </p:spPr>
      </p:sp>
      <p:pic>
        <p:nvPicPr>
          <p:cNvPr id="26" name="Image 6" descr="Stomach 72 px color proposal artwork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33472" y="3099816"/>
            <a:ext cx="658368" cy="658368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2423160" y="3803904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72 px color</a:t>
            </a:r>
            <a:endParaRPr lang="en-US" sz="870" dirty="0"/>
          </a:p>
        </p:txBody>
      </p:sp>
      <p:sp>
        <p:nvSpPr>
          <p:cNvPr id="28" name="Shape 19"/>
          <p:cNvSpPr/>
          <p:nvPr/>
        </p:nvSpPr>
        <p:spPr>
          <a:xfrm>
            <a:off x="3822192" y="3026664"/>
            <a:ext cx="1078992" cy="786384"/>
          </a:xfrm>
          <a:prstGeom prst="rect">
            <a:avLst/>
          </a:prstGeom>
          <a:solidFill>
            <a:srgbClr val="F4F7FB"/>
          </a:solidFill>
          <a:ln w="7620">
            <a:solidFill>
              <a:srgbClr val="D8DEE9"/>
            </a:solidFill>
            <a:prstDash val="solid"/>
          </a:ln>
        </p:spPr>
      </p:sp>
      <p:pic>
        <p:nvPicPr>
          <p:cNvPr id="29" name="Image 7" descr="Stomach 18 px color artwork at approximately native presentation siz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04488" y="3328416"/>
            <a:ext cx="173736" cy="173736"/>
          </a:xfrm>
          <a:prstGeom prst="rect">
            <a:avLst/>
          </a:prstGeom>
        </p:spPr>
      </p:pic>
      <p:pic>
        <p:nvPicPr>
          <p:cNvPr id="30" name="Image 8" descr="Stomach 18 px color artwork enlarged for inspectio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06240" y="3118104"/>
            <a:ext cx="566928" cy="566928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3822192" y="3803904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 px color</a:t>
            </a:r>
            <a:endParaRPr lang="en-US" sz="870" dirty="0"/>
          </a:p>
        </p:txBody>
      </p:sp>
      <p:sp>
        <p:nvSpPr>
          <p:cNvPr id="32" name="Text 21"/>
          <p:cNvSpPr/>
          <p:nvPr/>
        </p:nvSpPr>
        <p:spPr>
          <a:xfrm>
            <a:off x="3822192" y="3941064"/>
            <a:ext cx="10789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native  |  enlarged</a:t>
            </a:r>
            <a:endParaRPr lang="en-US" sz="680" dirty="0"/>
          </a:p>
        </p:txBody>
      </p:sp>
      <p:sp>
        <p:nvSpPr>
          <p:cNvPr id="33" name="Shape 22"/>
          <p:cNvSpPr/>
          <p:nvPr/>
        </p:nvSpPr>
        <p:spPr>
          <a:xfrm>
            <a:off x="5221224" y="3026664"/>
            <a:ext cx="1078992" cy="786384"/>
          </a:xfrm>
          <a:prstGeom prst="rect">
            <a:avLst/>
          </a:prstGeom>
          <a:solidFill>
            <a:srgbClr val="F4F7FB"/>
          </a:solidFill>
          <a:ln w="7620">
            <a:solidFill>
              <a:srgbClr val="D8DEE9"/>
            </a:solidFill>
            <a:prstDash val="solid"/>
          </a:ln>
        </p:spPr>
      </p:sp>
      <p:pic>
        <p:nvPicPr>
          <p:cNvPr id="34" name="Image 9" descr="Stomach 72 px B&amp;W proposal artwork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31536" y="3099816"/>
            <a:ext cx="658368" cy="658368"/>
          </a:xfrm>
          <a:prstGeom prst="rect">
            <a:avLst/>
          </a:prstGeom>
        </p:spPr>
      </p:pic>
      <p:sp>
        <p:nvSpPr>
          <p:cNvPr id="35" name="Text 23"/>
          <p:cNvSpPr/>
          <p:nvPr/>
        </p:nvSpPr>
        <p:spPr>
          <a:xfrm>
            <a:off x="5221224" y="3803904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72 px B&amp;W</a:t>
            </a:r>
            <a:endParaRPr lang="en-US" sz="870" dirty="0"/>
          </a:p>
        </p:txBody>
      </p:sp>
      <p:sp>
        <p:nvSpPr>
          <p:cNvPr id="36" name="Shape 24"/>
          <p:cNvSpPr/>
          <p:nvPr/>
        </p:nvSpPr>
        <p:spPr>
          <a:xfrm>
            <a:off x="6620256" y="3026664"/>
            <a:ext cx="1078992" cy="786384"/>
          </a:xfrm>
          <a:prstGeom prst="rect">
            <a:avLst/>
          </a:prstGeom>
          <a:solidFill>
            <a:srgbClr val="F4F7FB"/>
          </a:solidFill>
          <a:ln w="7620">
            <a:solidFill>
              <a:srgbClr val="D8DEE9"/>
            </a:solidFill>
            <a:prstDash val="solid"/>
          </a:ln>
        </p:spPr>
      </p:sp>
      <p:pic>
        <p:nvPicPr>
          <p:cNvPr id="37" name="Image 10" descr="Stomach 18 px B&amp;W artwork at approximately native presentation size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02552" y="3328416"/>
            <a:ext cx="173736" cy="173736"/>
          </a:xfrm>
          <a:prstGeom prst="rect">
            <a:avLst/>
          </a:prstGeom>
        </p:spPr>
      </p:pic>
      <p:pic>
        <p:nvPicPr>
          <p:cNvPr id="38" name="Image 11" descr="Stomach 18 px B&amp;W artwork enlarged for inspection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04304" y="3118104"/>
            <a:ext cx="566928" cy="566928"/>
          </a:xfrm>
          <a:prstGeom prst="rect">
            <a:avLst/>
          </a:prstGeom>
        </p:spPr>
      </p:pic>
      <p:sp>
        <p:nvSpPr>
          <p:cNvPr id="39" name="Text 25"/>
          <p:cNvSpPr/>
          <p:nvPr/>
        </p:nvSpPr>
        <p:spPr>
          <a:xfrm>
            <a:off x="6620256" y="3803904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 px B&amp;W</a:t>
            </a:r>
            <a:endParaRPr lang="en-US" sz="870" dirty="0"/>
          </a:p>
        </p:txBody>
      </p:sp>
      <p:sp>
        <p:nvSpPr>
          <p:cNvPr id="40" name="Text 26"/>
          <p:cNvSpPr/>
          <p:nvPr/>
        </p:nvSpPr>
        <p:spPr>
          <a:xfrm>
            <a:off x="6620256" y="3941064"/>
            <a:ext cx="10789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native  |  enlarged</a:t>
            </a:r>
            <a:endParaRPr lang="en-US" sz="680" dirty="0"/>
          </a:p>
        </p:txBody>
      </p:sp>
      <p:sp>
        <p:nvSpPr>
          <p:cNvPr id="41" name="Text 27"/>
          <p:cNvSpPr/>
          <p:nvPr/>
        </p:nvSpPr>
        <p:spPr>
          <a:xfrm>
            <a:off x="8366760" y="331012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Joined J silhouette</a:t>
            </a:r>
            <a:endParaRPr lang="en-US" sz="1200" dirty="0"/>
          </a:p>
        </p:txBody>
      </p:sp>
      <p:sp>
        <p:nvSpPr>
          <p:cNvPr id="42" name="Shape 28"/>
          <p:cNvSpPr/>
          <p:nvPr/>
        </p:nvSpPr>
        <p:spPr>
          <a:xfrm>
            <a:off x="640080" y="4306824"/>
            <a:ext cx="10927080" cy="1225296"/>
          </a:xfrm>
          <a:prstGeom prst="roundRect">
            <a:avLst>
              <a:gd name="adj" fmla="val 3731"/>
            </a:avLst>
          </a:prstGeom>
          <a:solidFill>
            <a:srgbClr val="FFFFFF"/>
          </a:solidFill>
          <a:ln w="10160">
            <a:solidFill>
              <a:srgbClr val="D8DEE9"/>
            </a:solidFill>
            <a:prstDash val="solid"/>
          </a:ln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3" name="Text 29"/>
          <p:cNvSpPr/>
          <p:nvPr/>
        </p:nvSpPr>
        <p:spPr>
          <a:xfrm>
            <a:off x="914400" y="4727448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Liver</a:t>
            </a:r>
            <a:endParaRPr lang="en-US" sz="1800" dirty="0"/>
          </a:p>
        </p:txBody>
      </p:sp>
      <p:sp>
        <p:nvSpPr>
          <p:cNvPr id="44" name="Shape 30"/>
          <p:cNvSpPr/>
          <p:nvPr/>
        </p:nvSpPr>
        <p:spPr>
          <a:xfrm>
            <a:off x="2423160" y="4471416"/>
            <a:ext cx="1078992" cy="786384"/>
          </a:xfrm>
          <a:prstGeom prst="rect">
            <a:avLst/>
          </a:prstGeom>
          <a:solidFill>
            <a:srgbClr val="F4F7FB"/>
          </a:solidFill>
          <a:ln w="7620">
            <a:solidFill>
              <a:srgbClr val="D8DEE9"/>
            </a:solidFill>
            <a:prstDash val="solid"/>
          </a:ln>
        </p:spPr>
      </p:sp>
      <p:pic>
        <p:nvPicPr>
          <p:cNvPr id="45" name="Image 12" descr="Liver 72 px color proposal artwork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33472" y="4544568"/>
            <a:ext cx="658368" cy="658368"/>
          </a:xfrm>
          <a:prstGeom prst="rect">
            <a:avLst/>
          </a:prstGeom>
        </p:spPr>
      </p:pic>
      <p:sp>
        <p:nvSpPr>
          <p:cNvPr id="46" name="Text 31"/>
          <p:cNvSpPr/>
          <p:nvPr/>
        </p:nvSpPr>
        <p:spPr>
          <a:xfrm>
            <a:off x="2423160" y="5248656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72 px color</a:t>
            </a:r>
            <a:endParaRPr lang="en-US" sz="870" dirty="0"/>
          </a:p>
        </p:txBody>
      </p:sp>
      <p:sp>
        <p:nvSpPr>
          <p:cNvPr id="47" name="Shape 32"/>
          <p:cNvSpPr/>
          <p:nvPr/>
        </p:nvSpPr>
        <p:spPr>
          <a:xfrm>
            <a:off x="3822192" y="4471416"/>
            <a:ext cx="1078992" cy="786384"/>
          </a:xfrm>
          <a:prstGeom prst="rect">
            <a:avLst/>
          </a:prstGeom>
          <a:solidFill>
            <a:srgbClr val="F4F7FB"/>
          </a:solidFill>
          <a:ln w="7620">
            <a:solidFill>
              <a:srgbClr val="D8DEE9"/>
            </a:solidFill>
            <a:prstDash val="solid"/>
          </a:ln>
        </p:spPr>
      </p:sp>
      <p:pic>
        <p:nvPicPr>
          <p:cNvPr id="48" name="Image 13" descr="Liver 18 px color artwork at approximately native presentation size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904488" y="4773168"/>
            <a:ext cx="173736" cy="173736"/>
          </a:xfrm>
          <a:prstGeom prst="rect">
            <a:avLst/>
          </a:prstGeom>
        </p:spPr>
      </p:pic>
      <p:pic>
        <p:nvPicPr>
          <p:cNvPr id="49" name="Image 14" descr="Liver 18 px color artwork enlarged for inspection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206240" y="4562856"/>
            <a:ext cx="566928" cy="566928"/>
          </a:xfrm>
          <a:prstGeom prst="rect">
            <a:avLst/>
          </a:prstGeom>
        </p:spPr>
      </p:pic>
      <p:sp>
        <p:nvSpPr>
          <p:cNvPr id="50" name="Text 33"/>
          <p:cNvSpPr/>
          <p:nvPr/>
        </p:nvSpPr>
        <p:spPr>
          <a:xfrm>
            <a:off x="3822192" y="5248656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 px color</a:t>
            </a:r>
            <a:endParaRPr lang="en-US" sz="870" dirty="0"/>
          </a:p>
        </p:txBody>
      </p:sp>
      <p:sp>
        <p:nvSpPr>
          <p:cNvPr id="51" name="Text 34"/>
          <p:cNvSpPr/>
          <p:nvPr/>
        </p:nvSpPr>
        <p:spPr>
          <a:xfrm>
            <a:off x="3822192" y="5385816"/>
            <a:ext cx="10789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native  |  enlarged</a:t>
            </a:r>
            <a:endParaRPr lang="en-US" sz="680" dirty="0"/>
          </a:p>
        </p:txBody>
      </p:sp>
      <p:sp>
        <p:nvSpPr>
          <p:cNvPr id="52" name="Shape 35"/>
          <p:cNvSpPr/>
          <p:nvPr/>
        </p:nvSpPr>
        <p:spPr>
          <a:xfrm>
            <a:off x="5221224" y="4471416"/>
            <a:ext cx="1078992" cy="786384"/>
          </a:xfrm>
          <a:prstGeom prst="rect">
            <a:avLst/>
          </a:prstGeom>
          <a:solidFill>
            <a:srgbClr val="F4F7FB"/>
          </a:solidFill>
          <a:ln w="7620">
            <a:solidFill>
              <a:srgbClr val="D8DEE9"/>
            </a:solidFill>
            <a:prstDash val="solid"/>
          </a:ln>
        </p:spPr>
      </p:sp>
      <p:pic>
        <p:nvPicPr>
          <p:cNvPr id="53" name="Image 15" descr="Liver 72 px B&amp;W proposal artwork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431536" y="4544568"/>
            <a:ext cx="658368" cy="658368"/>
          </a:xfrm>
          <a:prstGeom prst="rect">
            <a:avLst/>
          </a:prstGeom>
        </p:spPr>
      </p:pic>
      <p:sp>
        <p:nvSpPr>
          <p:cNvPr id="54" name="Text 36"/>
          <p:cNvSpPr/>
          <p:nvPr/>
        </p:nvSpPr>
        <p:spPr>
          <a:xfrm>
            <a:off x="5221224" y="5248656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72 px B&amp;W</a:t>
            </a:r>
            <a:endParaRPr lang="en-US" sz="870" dirty="0"/>
          </a:p>
        </p:txBody>
      </p:sp>
      <p:sp>
        <p:nvSpPr>
          <p:cNvPr id="55" name="Shape 37"/>
          <p:cNvSpPr/>
          <p:nvPr/>
        </p:nvSpPr>
        <p:spPr>
          <a:xfrm>
            <a:off x="6620256" y="4471416"/>
            <a:ext cx="1078992" cy="786384"/>
          </a:xfrm>
          <a:prstGeom prst="rect">
            <a:avLst/>
          </a:prstGeom>
          <a:solidFill>
            <a:srgbClr val="F4F7FB"/>
          </a:solidFill>
          <a:ln w="7620">
            <a:solidFill>
              <a:srgbClr val="D8DEE9"/>
            </a:solidFill>
            <a:prstDash val="solid"/>
          </a:ln>
        </p:spPr>
      </p:sp>
      <p:pic>
        <p:nvPicPr>
          <p:cNvPr id="56" name="Image 16" descr="Liver 18 px B&amp;W artwork at approximately native presentation size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702552" y="4773168"/>
            <a:ext cx="173736" cy="173736"/>
          </a:xfrm>
          <a:prstGeom prst="rect">
            <a:avLst/>
          </a:prstGeom>
        </p:spPr>
      </p:pic>
      <p:pic>
        <p:nvPicPr>
          <p:cNvPr id="57" name="Image 17" descr="Liver 18 px B&amp;W artwork enlarged for inspection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004304" y="4562856"/>
            <a:ext cx="566928" cy="566928"/>
          </a:xfrm>
          <a:prstGeom prst="rect">
            <a:avLst/>
          </a:prstGeom>
        </p:spPr>
      </p:pic>
      <p:sp>
        <p:nvSpPr>
          <p:cNvPr id="58" name="Text 38"/>
          <p:cNvSpPr/>
          <p:nvPr/>
        </p:nvSpPr>
        <p:spPr>
          <a:xfrm>
            <a:off x="6620256" y="5248656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 px B&amp;W</a:t>
            </a:r>
            <a:endParaRPr lang="en-US" sz="870" dirty="0"/>
          </a:p>
        </p:txBody>
      </p:sp>
      <p:sp>
        <p:nvSpPr>
          <p:cNvPr id="59" name="Text 39"/>
          <p:cNvSpPr/>
          <p:nvPr/>
        </p:nvSpPr>
        <p:spPr>
          <a:xfrm>
            <a:off x="6620256" y="5385816"/>
            <a:ext cx="10789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native  |  enlarged</a:t>
            </a:r>
            <a:endParaRPr lang="en-US" sz="680" dirty="0"/>
          </a:p>
        </p:txBody>
      </p:sp>
      <p:sp>
        <p:nvSpPr>
          <p:cNvPr id="60" name="Text 40"/>
          <p:cNvSpPr/>
          <p:nvPr/>
        </p:nvSpPr>
        <p:spPr>
          <a:xfrm>
            <a:off x="8366760" y="47548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Full wedge; tucked gallbladder</a:t>
            </a:r>
            <a:endParaRPr lang="en-US" sz="1200" dirty="0"/>
          </a:p>
        </p:txBody>
      </p:sp>
      <p:sp>
        <p:nvSpPr>
          <p:cNvPr id="61" name="Text 41"/>
          <p:cNvSpPr/>
          <p:nvPr/>
        </p:nvSpPr>
        <p:spPr>
          <a:xfrm>
            <a:off x="1005840" y="5943600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18 px variants are shown near native size and enlarged for inspection; proposal files remain textless and strict black-and-white where required.</a:t>
            </a:r>
            <a:endParaRPr lang="en-US" sz="1250" dirty="0"/>
          </a:p>
        </p:txBody>
      </p:sp>
      <p:sp>
        <p:nvSpPr>
          <p:cNvPr id="62" name="Text 42"/>
          <p:cNvSpPr/>
          <p:nvPr/>
        </p:nvSpPr>
        <p:spPr>
          <a:xfrm>
            <a:off x="594360" y="6419088"/>
            <a:ext cx="10652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Artwork release: https://github.com/ShuhanCS/medicalemoji/tree/codex/eligible-2026-slate/submissions/v1.7.0</a:t>
            </a:r>
            <a:endParaRPr lang="en-US" sz="900" dirty="0"/>
          </a:p>
        </p:txBody>
      </p:sp>
      <p:sp>
        <p:nvSpPr>
          <p:cNvPr id="63" name="Text 43"/>
          <p:cNvSpPr/>
          <p:nvPr/>
        </p:nvSpPr>
        <p:spPr>
          <a:xfrm>
            <a:off x="11384280" y="6419088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50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LEGITIMATE ROLE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Microsoft’s role is technical review, not outcome-seeking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1508760"/>
            <a:ext cx="2615184" cy="3840480"/>
          </a:xfrm>
          <a:prstGeom prst="roundRect">
            <a:avLst>
              <a:gd name="adj" fmla="val 1748"/>
            </a:avLst>
          </a:prstGeom>
          <a:solidFill>
            <a:srgbClr val="EAF1FF"/>
          </a:solidFill>
          <a:ln w="12700">
            <a:solidFill>
              <a:srgbClr val="2563EB">
                <a:alpha val="2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810512"/>
            <a:ext cx="566928" cy="5669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92024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523744"/>
            <a:ext cx="21488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Standards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2999232"/>
            <a:ext cx="2148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Confirm the correct Unicode venue and carry a bounded discussion only if Microsoft approves the review path.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3538728" y="1508760"/>
            <a:ext cx="2615184" cy="3840480"/>
          </a:xfrm>
          <a:prstGeom prst="roundRect">
            <a:avLst>
              <a:gd name="adj" fmla="val 1748"/>
            </a:avLst>
          </a:prstGeom>
          <a:solidFill>
            <a:srgbClr val="E8F7F4"/>
          </a:solidFill>
          <a:ln w="12700">
            <a:solidFill>
              <a:srgbClr val="0F8A7B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767328" y="1810512"/>
            <a:ext cx="566928" cy="566928"/>
          </a:xfrm>
          <a:prstGeom prst="ellipse">
            <a:avLst/>
          </a:prstGeom>
          <a:solidFill>
            <a:srgbClr val="0F8A7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67328" y="192024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767328" y="2523744"/>
            <a:ext cx="21488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Product + design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767328" y="2999232"/>
            <a:ext cx="2148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 the actual 18 × 18 px paradigms for recognition, accessibility, and plausible Segoe UI Emoji implementation.</a:t>
            </a:r>
            <a:endParaRPr lang="en-US" sz="1220" dirty="0"/>
          </a:p>
        </p:txBody>
      </p:sp>
      <p:sp>
        <p:nvSpPr>
          <p:cNvPr id="14" name="Shape 12"/>
          <p:cNvSpPr/>
          <p:nvPr/>
        </p:nvSpPr>
        <p:spPr>
          <a:xfrm>
            <a:off x="6391656" y="1508760"/>
            <a:ext cx="2615184" cy="3840480"/>
          </a:xfrm>
          <a:prstGeom prst="roundRect">
            <a:avLst>
              <a:gd name="adj" fmla="val 1748"/>
            </a:avLst>
          </a:prstGeom>
          <a:solidFill>
            <a:srgbClr val="EAF1FF"/>
          </a:solidFill>
          <a:ln w="12700">
            <a:solidFill>
              <a:srgbClr val="2563EB">
                <a:alpha val="2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20256" y="1810512"/>
            <a:ext cx="566928" cy="5669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20256" y="192024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620256" y="2523744"/>
            <a:ext cx="21488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Legal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620256" y="2999232"/>
            <a:ext cx="2148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Clear the image-rights route and any statement about possible implementation before it appears in a submission.</a:t>
            </a:r>
            <a:endParaRPr lang="en-US" sz="1220" dirty="0"/>
          </a:p>
        </p:txBody>
      </p:sp>
      <p:sp>
        <p:nvSpPr>
          <p:cNvPr id="19" name="Shape 17"/>
          <p:cNvSpPr/>
          <p:nvPr/>
        </p:nvSpPr>
        <p:spPr>
          <a:xfrm>
            <a:off x="9244584" y="1508760"/>
            <a:ext cx="2615184" cy="3840480"/>
          </a:xfrm>
          <a:prstGeom prst="roundRect">
            <a:avLst>
              <a:gd name="adj" fmla="val 1748"/>
            </a:avLst>
          </a:prstGeom>
          <a:solidFill>
            <a:srgbClr val="E8F7F4"/>
          </a:solidFill>
          <a:ln w="12700">
            <a:solidFill>
              <a:srgbClr val="0F8A7B">
                <a:alpha val="2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73184" y="1810512"/>
            <a:ext cx="566928" cy="566928"/>
          </a:xfrm>
          <a:prstGeom prst="ellipse">
            <a:avLst/>
          </a:prstGeom>
          <a:solidFill>
            <a:srgbClr val="0F8A7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73184" y="192024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473184" y="2523744"/>
            <a:ext cx="21488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Medical leadership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473184" y="2999232"/>
            <a:ext cx="2148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Validate broad communication needs and keep the slate focused on general-purpose use.</a:t>
            </a:r>
            <a:endParaRPr lang="en-US" sz="1220" dirty="0"/>
          </a:p>
        </p:txBody>
      </p:sp>
      <p:sp>
        <p:nvSpPr>
          <p:cNvPr id="24" name="Text 22"/>
          <p:cNvSpPr/>
          <p:nvPr/>
        </p:nvSpPr>
        <p:spPr>
          <a:xfrm>
            <a:off x="914400" y="5650992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C85A5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Guardrail: request ordinary technical review. Do not imply Microsoft endorsement, implementation, or preferred treatment before approval.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94360" y="6419088"/>
            <a:ext cx="10652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Unicode document guidance: https://www.unicode.org/pending/docsubmit.html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384280" y="6419088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50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EXECUTION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Run a 48-hour evidence and design gate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77240" y="1645920"/>
            <a:ext cx="3337560" cy="2880360"/>
          </a:xfrm>
          <a:prstGeom prst="roundRect">
            <a:avLst>
              <a:gd name="adj" fmla="val 1587"/>
            </a:avLst>
          </a:prstGeom>
          <a:solidFill>
            <a:srgbClr val="FFFFFF"/>
          </a:solidFill>
          <a:ln w="10160">
            <a:solidFill>
              <a:srgbClr val="D8DEE9"/>
            </a:solidFill>
            <a:prstDash val="solid"/>
          </a:ln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1965960"/>
            <a:ext cx="914400" cy="310896"/>
          </a:xfrm>
          <a:prstGeom prst="roundRect">
            <a:avLst>
              <a:gd name="adj" fmla="val 17647"/>
            </a:avLst>
          </a:prstGeom>
          <a:solidFill>
            <a:srgbClr val="EAF1FF"/>
          </a:solidFill>
          <a:ln w="12700">
            <a:solidFill>
              <a:srgbClr val="EAF1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198424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0–12h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51560" y="260604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Route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051560" y="3218688"/>
            <a:ext cx="2743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Name the Microsoft standards owner and confirm the individual-submission route.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62856" y="1645920"/>
            <a:ext cx="3337560" cy="2880360"/>
          </a:xfrm>
          <a:prstGeom prst="roundRect">
            <a:avLst>
              <a:gd name="adj" fmla="val 1587"/>
            </a:avLst>
          </a:prstGeom>
          <a:solidFill>
            <a:srgbClr val="FFFFFF"/>
          </a:solidFill>
          <a:ln w="10160">
            <a:solidFill>
              <a:srgbClr val="D8DEE9"/>
            </a:solidFill>
            <a:prstDash val="solid"/>
          </a:ln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37176" y="1965960"/>
            <a:ext cx="914400" cy="310896"/>
          </a:xfrm>
          <a:prstGeom prst="roundRect">
            <a:avLst>
              <a:gd name="adj" fmla="val 17647"/>
            </a:avLst>
          </a:prstGeom>
          <a:solidFill>
            <a:srgbClr val="FFF4DB"/>
          </a:solidFill>
          <a:ln w="12700">
            <a:solidFill>
              <a:srgbClr val="FFF4DB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37176" y="198424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99A2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13–36h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837176" y="260604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Evidence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4837176" y="3218688"/>
            <a:ext cx="2743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Capture the four missing Ultrasound Google categories in a manual session on an approved network.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348472" y="1645920"/>
            <a:ext cx="3337560" cy="2880360"/>
          </a:xfrm>
          <a:prstGeom prst="roundRect">
            <a:avLst>
              <a:gd name="adj" fmla="val 1587"/>
            </a:avLst>
          </a:prstGeom>
          <a:solidFill>
            <a:srgbClr val="FFFFFF"/>
          </a:solidFill>
          <a:ln w="10160">
            <a:solidFill>
              <a:srgbClr val="D8DEE9"/>
            </a:solidFill>
            <a:prstDash val="solid"/>
          </a:ln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22792" y="1965960"/>
            <a:ext cx="914400" cy="310896"/>
          </a:xfrm>
          <a:prstGeom prst="roundRect">
            <a:avLst>
              <a:gd name="adj" fmla="val 17647"/>
            </a:avLst>
          </a:prstGeom>
          <a:solidFill>
            <a:srgbClr val="E8F7F4"/>
          </a:solidFill>
          <a:ln w="12700">
            <a:solidFill>
              <a:srgbClr val="E8F7F4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22792" y="198424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F8A7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37–48h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622792" y="260604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Design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8622792" y="3218688"/>
            <a:ext cx="2743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Cold-test the 18 × 18 px monitor-plus-probe paradigm and obtain product and legal clearance.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1234440" y="4956048"/>
            <a:ext cx="9692640" cy="960120"/>
          </a:xfrm>
          <a:prstGeom prst="roundRect">
            <a:avLst>
              <a:gd name="adj" fmla="val 4762"/>
            </a:avLst>
          </a:prstGeom>
          <a:solidFill>
            <a:srgbClr val="FCEAE8"/>
          </a:solidFill>
          <a:ln w="10160">
            <a:solidFill>
              <a:srgbClr val="C85A54">
                <a:alpha val="4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572768" y="5212080"/>
            <a:ext cx="9015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C85A5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Evidence capture is blocked on this network: Google Trends returns HTTP 429 and Google Search presents a CAPTCHA. Use a manual session on an approved network.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94360" y="6419088"/>
            <a:ext cx="10652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Evidence requirements: https://www.unicode.org/emoji/proposals.html#evidence_of_frequency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384280" y="6419088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7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" y="5943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70" dirty="0">
                <a:solidFill>
                  <a:srgbClr val="8FC5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THREE DECISIONS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49808" y="987552"/>
            <a:ext cx="7040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we need from Microsoft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2011680"/>
            <a:ext cx="512064" cy="51206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103120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572768" y="1993392"/>
            <a:ext cx="6583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E6EE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Name one standards owner and one Windows/Segoe UI Emoji design owner.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3063240"/>
            <a:ext cx="512064" cy="51206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154680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572768" y="3044952"/>
            <a:ext cx="6583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E6EE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Confirm whether Ultrasound should proceed through the evidence gate, with CT Scan retained as the fallback.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822960" y="4114800"/>
            <a:ext cx="512064" cy="51206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4206240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572768" y="4096512"/>
            <a:ext cx="6583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E6EE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Authorize technical review only; keep authorship, endorsement, and implementation language pending explicit approval.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641080" y="1170432"/>
            <a:ext cx="2788920" cy="4526280"/>
          </a:xfrm>
          <a:prstGeom prst="roundRect">
            <a:avLst>
              <a:gd name="adj" fmla="val 1967"/>
            </a:avLst>
          </a:prstGeom>
          <a:solidFill>
            <a:srgbClr val="132653"/>
          </a:solidFill>
          <a:ln w="12700">
            <a:solidFill>
              <a:srgbClr val="2B4C8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79408" y="155448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30" dirty="0">
                <a:solidFill>
                  <a:srgbClr val="8FC5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REVIEW PACKET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979408" y="2084832"/>
            <a:ext cx="2084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22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One-page decision brief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8979408" y="2596896"/>
            <a:ext cx="2084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22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Product/legal clearance sheet</a:t>
            </a:r>
            <a:endParaRPr lang="en-US" sz="1220" dirty="0"/>
          </a:p>
        </p:txBody>
      </p:sp>
      <p:sp>
        <p:nvSpPr>
          <p:cNvPr id="17" name="Text 15"/>
          <p:cNvSpPr/>
          <p:nvPr/>
        </p:nvSpPr>
        <p:spPr>
          <a:xfrm>
            <a:off x="8979408" y="3108960"/>
            <a:ext cx="2084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22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Artwork readiness board</a:t>
            </a:r>
            <a:endParaRPr lang="en-US" sz="1220" dirty="0"/>
          </a:p>
        </p:txBody>
      </p:sp>
      <p:sp>
        <p:nvSpPr>
          <p:cNvPr id="18" name="Text 16"/>
          <p:cNvSpPr/>
          <p:nvPr/>
        </p:nvSpPr>
        <p:spPr>
          <a:xfrm>
            <a:off x="8979408" y="3621024"/>
            <a:ext cx="2084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22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Selected proposal after gate</a:t>
            </a:r>
            <a:endParaRPr lang="en-US" sz="1220" dirty="0"/>
          </a:p>
        </p:txBody>
      </p:sp>
      <p:sp>
        <p:nvSpPr>
          <p:cNvPr id="19" name="Text 17"/>
          <p:cNvSpPr/>
          <p:nvPr/>
        </p:nvSpPr>
        <p:spPr>
          <a:xfrm>
            <a:off x="8979408" y="4133088"/>
            <a:ext cx="2084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22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Draft standards document marked for review</a:t>
            </a:r>
            <a:endParaRPr lang="en-US" sz="1220" dirty="0"/>
          </a:p>
        </p:txBody>
      </p:sp>
      <p:sp>
        <p:nvSpPr>
          <p:cNvPr id="20" name="Text 18"/>
          <p:cNvSpPr/>
          <p:nvPr/>
        </p:nvSpPr>
        <p:spPr>
          <a:xfrm>
            <a:off x="749808" y="6172200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FC7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Prepared for David Rhew and Microsoft internal review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egoe UI Semibol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896</Words>
  <Application>Microsoft Office PowerPoint</Application>
  <PresentationFormat>Widescreen</PresentationFormat>
  <Paragraphs>138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Segoe UI</vt:lpstr>
      <vt:lpstr>Segoe UI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Medical Emoji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Medical Emoji: Microsoft Internal Review</dc:title>
  <dc:subject>Microsoft internal review of the 2026 Medical Emoji proposal strategy</dc:subject>
  <dc:creator>Shuhan He</dc:creator>
  <cp:lastModifiedBy>Shuhan He, MD Han</cp:lastModifiedBy>
  <cp:revision>1</cp:revision>
  <dcterms:created xsi:type="dcterms:W3CDTF">2026-07-13T01:48:35Z</dcterms:created>
  <dcterms:modified xsi:type="dcterms:W3CDTF">2026-07-13T01:48:36Z</dcterms:modified>
</cp:coreProperties>
</file>